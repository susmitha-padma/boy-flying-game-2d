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66" r:id="rId2"/>
    <p:sldId id="256" r:id="rId3"/>
    <p:sldId id="270" r:id="rId4"/>
    <p:sldId id="257" r:id="rId5"/>
    <p:sldId id="267" r:id="rId6"/>
    <p:sldId id="268" r:id="rId7"/>
    <p:sldId id="258" r:id="rId8"/>
    <p:sldId id="259" r:id="rId9"/>
    <p:sldId id="260" r:id="rId10"/>
    <p:sldId id="261" r:id="rId11"/>
    <p:sldId id="262" r:id="rId12"/>
    <p:sldId id="263" r:id="rId13"/>
    <p:sldId id="269" r:id="rId14"/>
    <p:sldId id="264" r:id="rId15"/>
    <p:sldId id="265" r:id="rId16"/>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61" d="100"/>
          <a:sy n="61" d="100"/>
        </p:scale>
        <p:origin x="-564" y="-84"/>
      </p:cViewPr>
      <p:guideLst>
        <p:guide orient="horz" pos="2592"/>
        <p:guide pos="460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pPr/>
              <a:t>11/10/2024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2"/>
          <a:stretch>
            <a:fillRect/>
          </a:stretch>
        </p:blipFill>
        <p:spPr>
          <a:xfrm>
            <a:off x="0" y="0"/>
            <a:ext cx="14630400" cy="8229600"/>
          </a:xfrm>
          <a:prstGeom prst="rect">
            <a:avLst/>
          </a:prstGeom>
        </p:spPr>
      </p:pic>
      <p:pic>
        <p:nvPicPr>
          <p:cNvPr id="1030" name="Picture 6" descr="https://scontent.fhyd1-3.fna.fbcdn.net/v/t39.30808-6/302582293_364393385904300_3147880084074585911_n.jpg?stp=dst-jpg_s960x960&amp;_nc_cat=104&amp;ccb=1-7&amp;_nc_sid=cc71e4&amp;_nc_ohc=j9wTdA7dSEkQ7kNvgFrHiH3&amp;_nc_zt=23&amp;_nc_ht=scontent.fhyd1-3.fna&amp;_nc_gid=A8xwNCXpSCK50XARR0pQy2K&amp;oh=00_AYD-ouT8z8nKOEeY7ag6aaen5F0wItKUI9sAiZ8RJ0lV9A&amp;oe=6734F55B"/>
          <p:cNvPicPr>
            <a:picLocks noChangeAspect="1" noChangeArrowheads="1"/>
          </p:cNvPicPr>
          <p:nvPr/>
        </p:nvPicPr>
        <p:blipFill>
          <a:blip r:embed="rId3"/>
          <a:srcRect/>
          <a:stretch>
            <a:fillRect/>
          </a:stretch>
        </p:blipFill>
        <p:spPr bwMode="auto">
          <a:xfrm>
            <a:off x="0" y="0"/>
            <a:ext cx="14630400" cy="3316637"/>
          </a:xfrm>
          <a:prstGeom prst="rect">
            <a:avLst/>
          </a:prstGeom>
          <a:noFill/>
        </p:spPr>
      </p:pic>
      <p:sp>
        <p:nvSpPr>
          <p:cNvPr id="8" name="TextBox 7"/>
          <p:cNvSpPr txBox="1"/>
          <p:nvPr/>
        </p:nvSpPr>
        <p:spPr>
          <a:xfrm>
            <a:off x="778757" y="3739688"/>
            <a:ext cx="12897505" cy="646331"/>
          </a:xfrm>
          <a:prstGeom prst="rect">
            <a:avLst/>
          </a:prstGeom>
          <a:noFill/>
        </p:spPr>
        <p:txBody>
          <a:bodyPr wrap="none" rtlCol="0">
            <a:spAutoFit/>
          </a:bodyPr>
          <a:lstStyle/>
          <a:p>
            <a:r>
              <a:rPr lang="en-US" sz="3600" b="1" dirty="0" smtClean="0">
                <a:latin typeface="Petrona"/>
                <a:ea typeface="Petrona"/>
              </a:rPr>
              <a:t>DEPARTMENT OF COMPUTER SCIENCE &amp; ENGINEERING</a:t>
            </a:r>
            <a:endParaRPr lang="en-US" sz="3600" b="1" dirty="0">
              <a:latin typeface="Petrona"/>
              <a:ea typeface="Petrona"/>
            </a:endParaRPr>
          </a:p>
        </p:txBody>
      </p:sp>
      <p:sp>
        <p:nvSpPr>
          <p:cNvPr id="9" name="TextBox 8"/>
          <p:cNvSpPr txBox="1"/>
          <p:nvPr/>
        </p:nvSpPr>
        <p:spPr>
          <a:xfrm>
            <a:off x="2711116" y="4568659"/>
            <a:ext cx="8271816" cy="646331"/>
          </a:xfrm>
          <a:prstGeom prst="rect">
            <a:avLst/>
          </a:prstGeom>
          <a:noFill/>
        </p:spPr>
        <p:txBody>
          <a:bodyPr wrap="none" rtlCol="0">
            <a:spAutoFit/>
          </a:bodyPr>
          <a:lstStyle/>
          <a:p>
            <a:r>
              <a:rPr lang="en-US" sz="3600" dirty="0" smtClean="0">
                <a:latin typeface="Baskerville Old Face" pitchFamily="18" charset="0"/>
                <a:ea typeface="Petrona"/>
              </a:rPr>
              <a:t>INTERNSHIP  PROJECT  REPORT  ON</a:t>
            </a:r>
            <a:endParaRPr lang="en-US" sz="3600" dirty="0">
              <a:latin typeface="Baskerville Old Face" pitchFamily="18" charset="0"/>
              <a:ea typeface="Petrona"/>
            </a:endParaRPr>
          </a:p>
        </p:txBody>
      </p:sp>
      <p:sp>
        <p:nvSpPr>
          <p:cNvPr id="10" name="TextBox 9"/>
          <p:cNvSpPr txBox="1"/>
          <p:nvPr/>
        </p:nvSpPr>
        <p:spPr>
          <a:xfrm>
            <a:off x="1074821" y="5439905"/>
            <a:ext cx="11625298" cy="830997"/>
          </a:xfrm>
          <a:prstGeom prst="rect">
            <a:avLst/>
          </a:prstGeom>
          <a:noFill/>
        </p:spPr>
        <p:txBody>
          <a:bodyPr wrap="none" rtlCol="0">
            <a:spAutoFit/>
          </a:bodyPr>
          <a:lstStyle/>
          <a:p>
            <a:r>
              <a:rPr lang="en-US" sz="4800" b="1" dirty="0" smtClean="0">
                <a:latin typeface="Monotype Corsiva" pitchFamily="66" charset="0"/>
              </a:rPr>
              <a:t>ANDRIOD   APPLICATION   DEVELOPMENT</a:t>
            </a:r>
            <a:endParaRPr lang="en-US" sz="4800" b="1" dirty="0">
              <a:latin typeface="Monotype Corsiva" pitchFamily="66" charset="0"/>
            </a:endParaRPr>
          </a:p>
        </p:txBody>
      </p:sp>
      <p:sp>
        <p:nvSpPr>
          <p:cNvPr id="7" name="TextBox 6"/>
          <p:cNvSpPr txBox="1"/>
          <p:nvPr/>
        </p:nvSpPr>
        <p:spPr>
          <a:xfrm>
            <a:off x="3455034" y="6270902"/>
            <a:ext cx="6533648" cy="646331"/>
          </a:xfrm>
          <a:prstGeom prst="rect">
            <a:avLst/>
          </a:prstGeom>
          <a:noFill/>
        </p:spPr>
        <p:txBody>
          <a:bodyPr wrap="none" rtlCol="0">
            <a:spAutoFit/>
          </a:bodyPr>
          <a:lstStyle/>
          <a:p>
            <a:r>
              <a:rPr lang="en-US" sz="3600" dirty="0" smtClean="0"/>
              <a:t>Under The Esteemed Guidance Of</a:t>
            </a:r>
            <a:endParaRPr lang="en-US" sz="3600" dirty="0"/>
          </a:p>
        </p:txBody>
      </p:sp>
      <p:sp>
        <p:nvSpPr>
          <p:cNvPr id="11" name="TextBox 10"/>
          <p:cNvSpPr txBox="1"/>
          <p:nvPr/>
        </p:nvSpPr>
        <p:spPr>
          <a:xfrm>
            <a:off x="5145437" y="7038310"/>
            <a:ext cx="3106941" cy="584775"/>
          </a:xfrm>
          <a:prstGeom prst="rect">
            <a:avLst/>
          </a:prstGeom>
          <a:noFill/>
        </p:spPr>
        <p:txBody>
          <a:bodyPr wrap="none" rtlCol="0">
            <a:spAutoFit/>
          </a:bodyPr>
          <a:lstStyle/>
          <a:p>
            <a:r>
              <a:rPr lang="en-US" sz="3200" dirty="0" smtClean="0">
                <a:latin typeface="Algerian" pitchFamily="82" charset="0"/>
              </a:rPr>
              <a:t>Mr. n. Moulali</a:t>
            </a:r>
            <a:endParaRPr lang="en-US" sz="3200" dirty="0">
              <a:latin typeface="Algerian"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793750" y="1131376"/>
            <a:ext cx="7556500" cy="3003550"/>
          </a:xfrm>
          <a:prstGeom prst="rect">
            <a:avLst/>
          </a:prstGeom>
          <a:noFill/>
        </p:spPr>
        <p:txBody>
          <a:bodyPr wrap="square" rtlCol="0" anchor="t"/>
          <a:lstStyle/>
          <a:p>
            <a:pPr marL="0" indent="0">
              <a:lnSpc>
                <a:spcPts val="8085"/>
              </a:lnSpc>
              <a:buNone/>
            </a:pPr>
            <a:r>
              <a:rPr lang="en-US" sz="7200" b="1" dirty="0">
                <a:solidFill>
                  <a:srgbClr val="000000"/>
                </a:solidFill>
                <a:latin typeface="Petrona" pitchFamily="34" charset="0"/>
                <a:ea typeface="Petrona" pitchFamily="34" charset="-122"/>
                <a:cs typeface="Petrona" pitchFamily="34" charset="-120"/>
              </a:rPr>
              <a:t>The Boy Flying Game App</a:t>
            </a:r>
            <a:endParaRPr lang="en-US" sz="7200" dirty="0"/>
          </a:p>
        </p:txBody>
      </p:sp>
      <p:sp>
        <p:nvSpPr>
          <p:cNvPr id="3" name="Text Box 2"/>
          <p:cNvSpPr txBox="1"/>
          <p:nvPr/>
        </p:nvSpPr>
        <p:spPr>
          <a:xfrm>
            <a:off x="2216531" y="3843143"/>
            <a:ext cx="4209415" cy="583565"/>
          </a:xfrm>
          <a:prstGeom prst="rect">
            <a:avLst/>
          </a:prstGeom>
          <a:noFill/>
        </p:spPr>
        <p:txBody>
          <a:bodyPr wrap="square" rtlCol="0">
            <a:spAutoFit/>
          </a:bodyPr>
          <a:lstStyle/>
          <a:p>
            <a:r>
              <a:rPr lang="en-US" sz="3200" b="1" dirty="0">
                <a:latin typeface="Lucida Calligraphy" pitchFamily="66" charset="0"/>
                <a:cs typeface="Castellar" panose="020A0402060406010301" charset="0"/>
              </a:rPr>
              <a:t>SUBMITTED BY</a:t>
            </a:r>
            <a:endParaRPr lang="en-US" sz="2800" b="1" dirty="0">
              <a:latin typeface="Lucida Calligraphy" pitchFamily="66" charset="0"/>
              <a:cs typeface="Castellar" panose="020A0402060406010301" charset="0"/>
            </a:endParaRPr>
          </a:p>
        </p:txBody>
      </p:sp>
      <p:sp>
        <p:nvSpPr>
          <p:cNvPr id="7" name="Text Box 6"/>
          <p:cNvSpPr txBox="1"/>
          <p:nvPr/>
        </p:nvSpPr>
        <p:spPr>
          <a:xfrm>
            <a:off x="2814955" y="5005953"/>
            <a:ext cx="6329045" cy="2677656"/>
          </a:xfrm>
          <a:prstGeom prst="rect">
            <a:avLst/>
          </a:prstGeom>
          <a:noFill/>
        </p:spPr>
        <p:txBody>
          <a:bodyPr wrap="square" rtlCol="0">
            <a:spAutoFit/>
          </a:bodyPr>
          <a:lstStyle/>
          <a:p>
            <a:r>
              <a:rPr lang="en-US" sz="2400" b="1" dirty="0" smtClean="0">
                <a:latin typeface="Californian FB" panose="0207040306080B030204" charset="0"/>
                <a:cs typeface="Californian FB" panose="0207040306080B030204" charset="0"/>
              </a:rPr>
              <a:t>M. MUSHKAN               </a:t>
            </a:r>
            <a:r>
              <a:rPr lang="en-US" sz="2400" b="1" dirty="0">
                <a:latin typeface="Californian FB" panose="0207040306080B030204" charset="0"/>
                <a:cs typeface="Californian FB" panose="0207040306080B030204" charset="0"/>
              </a:rPr>
              <a:t>---</a:t>
            </a:r>
            <a:r>
              <a:rPr lang="en-US" sz="2400" b="1" dirty="0" smtClean="0">
                <a:latin typeface="Californian FB" panose="0207040306080B030204" charset="0"/>
                <a:cs typeface="Californian FB" panose="0207040306080B030204" charset="0"/>
              </a:rPr>
              <a:t>22E91A1214</a:t>
            </a:r>
          </a:p>
          <a:p>
            <a:endParaRPr lang="en-US" sz="2400" b="1" dirty="0" smtClean="0">
              <a:latin typeface="Californian FB" panose="0207040306080B030204" charset="0"/>
              <a:cs typeface="Californian FB" panose="0207040306080B030204" charset="0"/>
            </a:endParaRPr>
          </a:p>
          <a:p>
            <a:r>
              <a:rPr lang="en-US" sz="2400" b="1" dirty="0" smtClean="0">
                <a:latin typeface="Californian FB" panose="0207040306080B030204" charset="0"/>
                <a:cs typeface="Californian FB" panose="0207040306080B030204" charset="0"/>
              </a:rPr>
              <a:t>T. PRAVALLIKA           ---22E91A1221</a:t>
            </a:r>
            <a:endParaRPr lang="en-US" sz="2400" b="1" dirty="0">
              <a:latin typeface="Californian FB" panose="0207040306080B030204" charset="0"/>
              <a:cs typeface="Californian FB" panose="0207040306080B030204" charset="0"/>
            </a:endParaRPr>
          </a:p>
          <a:p>
            <a:endParaRPr lang="en-US" sz="2400" b="1" dirty="0">
              <a:latin typeface="Californian FB" panose="0207040306080B030204" charset="0"/>
              <a:cs typeface="Californian FB" panose="0207040306080B030204" charset="0"/>
            </a:endParaRPr>
          </a:p>
          <a:p>
            <a:r>
              <a:rPr lang="en-US" sz="2400" b="1" dirty="0">
                <a:latin typeface="Californian FB" panose="0207040306080B030204" charset="0"/>
                <a:cs typeface="Californian FB" panose="0207040306080B030204" charset="0"/>
              </a:rPr>
              <a:t>G. AJAY KRISHNA        ---22E91A1209</a:t>
            </a:r>
          </a:p>
          <a:p>
            <a:endParaRPr lang="en-US" sz="2400" b="1" dirty="0">
              <a:latin typeface="Californian FB" panose="0207040306080B030204" charset="0"/>
              <a:cs typeface="Californian FB" panose="0207040306080B030204" charset="0"/>
            </a:endParaRPr>
          </a:p>
          <a:p>
            <a:r>
              <a:rPr lang="en-US" sz="2400" b="1" dirty="0">
                <a:latin typeface="Californian FB" panose="0207040306080B030204" charset="0"/>
                <a:cs typeface="Californian FB" panose="0207040306080B030204" charset="0"/>
              </a:rPr>
              <a:t>P.SUSMITHA PADMA ---22E91A1220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1100380" y="480447"/>
            <a:ext cx="2855269" cy="830997"/>
          </a:xfrm>
          <a:prstGeom prst="rect">
            <a:avLst/>
          </a:prstGeom>
          <a:noFill/>
        </p:spPr>
        <p:txBody>
          <a:bodyPr wrap="none" rtlCol="0">
            <a:spAutoFit/>
          </a:bodyPr>
          <a:lstStyle/>
          <a:p>
            <a:r>
              <a:rPr lang="en-US" sz="4800" b="1" dirty="0" smtClean="0">
                <a:latin typeface="Petrona"/>
                <a:ea typeface="Petrona"/>
              </a:rPr>
              <a:t>Contents</a:t>
            </a:r>
            <a:endParaRPr lang="en-US" sz="4800" b="1" dirty="0">
              <a:latin typeface="Petrona"/>
              <a:ea typeface="Petrona"/>
            </a:endParaRPr>
          </a:p>
        </p:txBody>
      </p:sp>
      <p:sp>
        <p:nvSpPr>
          <p:cNvPr id="4" name="TextBox 3"/>
          <p:cNvSpPr txBox="1"/>
          <p:nvPr/>
        </p:nvSpPr>
        <p:spPr>
          <a:xfrm>
            <a:off x="2572719" y="1720312"/>
            <a:ext cx="9038052" cy="6001643"/>
          </a:xfrm>
          <a:prstGeom prst="rect">
            <a:avLst/>
          </a:prstGeom>
          <a:noFill/>
        </p:spPr>
        <p:txBody>
          <a:bodyPr wrap="none" rtlCol="0">
            <a:spAutoFit/>
          </a:bodyPr>
          <a:lstStyle/>
          <a:p>
            <a:pPr>
              <a:buFont typeface="Wingdings" pitchFamily="2" charset="2"/>
              <a:buChar char="Ø"/>
            </a:pPr>
            <a:r>
              <a:rPr lang="en-US" sz="3200" b="1" dirty="0" smtClean="0">
                <a:latin typeface="Bradley Hand ITC" pitchFamily="66" charset="0"/>
                <a:ea typeface="Inter"/>
              </a:rPr>
              <a:t>   </a:t>
            </a:r>
            <a:r>
              <a:rPr lang="en-US" sz="3200" dirty="0" smtClean="0">
                <a:latin typeface="Bookman Old Style" pitchFamily="18" charset="0"/>
                <a:ea typeface="Inter"/>
              </a:rPr>
              <a:t>Introduction  to  the  Boy  Playing  Game</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About  Android  Studio</a:t>
            </a:r>
          </a:p>
          <a:p>
            <a:pPr>
              <a:buFont typeface="Wingdings" pitchFamily="2" charset="2"/>
              <a:buChar char="Ø"/>
            </a:pPr>
            <a:r>
              <a:rPr lang="en-US" sz="3200" dirty="0" smtClean="0">
                <a:latin typeface="Inter"/>
                <a:ea typeface="Inter"/>
              </a:rPr>
              <a:t> </a:t>
            </a:r>
            <a:r>
              <a:rPr lang="en-US" sz="3200" dirty="0" smtClean="0">
                <a:latin typeface="Inter"/>
                <a:ea typeface="Inter"/>
              </a:rPr>
              <a:t>  </a:t>
            </a:r>
            <a:r>
              <a:rPr lang="en-US" sz="3200" dirty="0" smtClean="0">
                <a:latin typeface="Bookman Old Style" pitchFamily="18" charset="0"/>
                <a:ea typeface="Inter"/>
              </a:rPr>
              <a:t>Programming  Language  Used (java)</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User  Interface</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Game  Overview</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Graphics  &amp;  Design</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Key  Features</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2D  Animation</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Rules  of  Game</a:t>
            </a:r>
          </a:p>
          <a:p>
            <a:pPr>
              <a:buFont typeface="Wingdings" pitchFamily="2" charset="2"/>
              <a:buChar char="Ø"/>
            </a:pPr>
            <a:r>
              <a:rPr lang="en-US" sz="3200" dirty="0" smtClean="0">
                <a:latin typeface="Inter"/>
                <a:ea typeface="Inter"/>
              </a:rPr>
              <a:t>    </a:t>
            </a:r>
            <a:r>
              <a:rPr lang="en-US" sz="3200" dirty="0" smtClean="0">
                <a:latin typeface="Bookman Old Style" pitchFamily="18" charset="0"/>
                <a:ea typeface="Inter"/>
              </a:rPr>
              <a:t>Results</a:t>
            </a:r>
          </a:p>
          <a:p>
            <a:pPr>
              <a:buFont typeface="Wingdings" pitchFamily="2" charset="2"/>
              <a:buChar char="Ø"/>
            </a:pPr>
            <a:r>
              <a:rPr lang="en-US" sz="3200" dirty="0" smtClean="0">
                <a:latin typeface="Bookman Old Style" pitchFamily="18" charset="0"/>
                <a:ea typeface="Inter"/>
              </a:rPr>
              <a:t> </a:t>
            </a:r>
            <a:r>
              <a:rPr lang="en-US" sz="3200" dirty="0" smtClean="0">
                <a:latin typeface="Bookman Old Style" pitchFamily="18" charset="0"/>
                <a:ea typeface="Inter"/>
              </a:rPr>
              <a:t>  Conclusion</a:t>
            </a:r>
          </a:p>
          <a:p>
            <a:pPr>
              <a:buFont typeface="Wingdings" pitchFamily="2" charset="2"/>
              <a:buChar char="Ø"/>
            </a:pPr>
            <a:r>
              <a:rPr lang="en-US" sz="3200" dirty="0" smtClean="0">
                <a:latin typeface="Bookman Old Style" pitchFamily="18" charset="0"/>
                <a:ea typeface="Inter"/>
              </a:rPr>
              <a:t>   Thank  you</a:t>
            </a:r>
            <a:endParaRPr lang="en-US" sz="3200" dirty="0" smtClean="0">
              <a:latin typeface="Bookman Old Style" pitchFamily="18" charset="0"/>
              <a:ea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793790" y="2331839"/>
            <a:ext cx="9857780" cy="744260"/>
          </a:xfrm>
          <a:prstGeom prst="rect">
            <a:avLst/>
          </a:prstGeom>
          <a:noFill/>
        </p:spPr>
        <p:txBody>
          <a:bodyPr wrap="none" rtlCol="0" anchor="t"/>
          <a:lstStyle/>
          <a:p>
            <a:pPr marL="0" indent="0">
              <a:lnSpc>
                <a:spcPts val="5860"/>
              </a:lnSpc>
              <a:buNone/>
            </a:pPr>
            <a:r>
              <a:rPr lang="en-US" sz="4690" b="1" dirty="0">
                <a:solidFill>
                  <a:srgbClr val="000000"/>
                </a:solidFill>
                <a:latin typeface="Petrona" pitchFamily="34" charset="0"/>
                <a:ea typeface="Petrona" pitchFamily="34" charset="-122"/>
                <a:cs typeface="Petrona" pitchFamily="34" charset="-120"/>
              </a:rPr>
              <a:t>Introduction to the Boy Flying Game</a:t>
            </a:r>
            <a:endParaRPr lang="en-US" sz="4690" dirty="0"/>
          </a:p>
        </p:txBody>
      </p:sp>
      <p:sp>
        <p:nvSpPr>
          <p:cNvPr id="5" name="Text 2"/>
          <p:cNvSpPr/>
          <p:nvPr/>
        </p:nvSpPr>
        <p:spPr>
          <a:xfrm>
            <a:off x="793790" y="3643074"/>
            <a:ext cx="3062287" cy="372070"/>
          </a:xfrm>
          <a:prstGeom prst="rect">
            <a:avLst/>
          </a:prstGeom>
          <a:noFill/>
        </p:spPr>
        <p:txBody>
          <a:bodyPr wrap="none" rtlCol="0" anchor="t"/>
          <a:lstStyle/>
          <a:p>
            <a:pPr marL="0" indent="0">
              <a:lnSpc>
                <a:spcPts val="2930"/>
              </a:lnSpc>
              <a:buNone/>
            </a:pPr>
            <a:r>
              <a:rPr lang="en-US" sz="2345" b="1" dirty="0">
                <a:solidFill>
                  <a:srgbClr val="000000"/>
                </a:solidFill>
                <a:latin typeface="Petrona" pitchFamily="34" charset="0"/>
                <a:ea typeface="Petrona" pitchFamily="34" charset="-122"/>
                <a:cs typeface="Petrona" pitchFamily="34" charset="-120"/>
              </a:rPr>
              <a:t> Experience</a:t>
            </a:r>
            <a:endParaRPr lang="en-US" sz="2345" dirty="0"/>
          </a:p>
        </p:txBody>
      </p:sp>
      <p:sp>
        <p:nvSpPr>
          <p:cNvPr id="6" name="Text 3"/>
          <p:cNvSpPr/>
          <p:nvPr/>
        </p:nvSpPr>
        <p:spPr>
          <a:xfrm>
            <a:off x="793790" y="4241959"/>
            <a:ext cx="3978116" cy="1088708"/>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Discover a vibrant, imaginative world where the laws of gravity are defied, and the possibilities are endless.</a:t>
            </a:r>
            <a:endParaRPr lang="en-US" sz="1785" dirty="0"/>
          </a:p>
        </p:txBody>
      </p:sp>
      <p:sp>
        <p:nvSpPr>
          <p:cNvPr id="7" name="Text 4"/>
          <p:cNvSpPr/>
          <p:nvPr/>
        </p:nvSpPr>
        <p:spPr>
          <a:xfrm>
            <a:off x="5332928" y="3643074"/>
            <a:ext cx="2977039" cy="372070"/>
          </a:xfrm>
          <a:prstGeom prst="rect">
            <a:avLst/>
          </a:prstGeom>
          <a:noFill/>
        </p:spPr>
        <p:txBody>
          <a:bodyPr wrap="none" rtlCol="0" anchor="t"/>
          <a:lstStyle/>
          <a:p>
            <a:pPr marL="0" indent="0">
              <a:lnSpc>
                <a:spcPts val="2930"/>
              </a:lnSpc>
              <a:buNone/>
            </a:pPr>
            <a:r>
              <a:rPr lang="en-US" sz="2345" b="1" dirty="0">
                <a:solidFill>
                  <a:srgbClr val="000000"/>
                </a:solidFill>
                <a:latin typeface="Petrona" pitchFamily="34" charset="0"/>
                <a:ea typeface="Petrona" pitchFamily="34" charset="-122"/>
                <a:cs typeface="Petrona" pitchFamily="34" charset="-120"/>
              </a:rPr>
              <a:t> Controls Effects</a:t>
            </a:r>
            <a:endParaRPr lang="en-US" sz="2345" dirty="0"/>
          </a:p>
        </p:txBody>
      </p:sp>
      <p:sp>
        <p:nvSpPr>
          <p:cNvPr id="8" name="Text 5"/>
          <p:cNvSpPr/>
          <p:nvPr/>
        </p:nvSpPr>
        <p:spPr>
          <a:xfrm>
            <a:off x="5332928" y="4241959"/>
            <a:ext cx="3978116" cy="1451610"/>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Source effortlessly by guiding the boy with simple, responsive controls that allow you to maneuver through the skies with grace.</a:t>
            </a:r>
            <a:endParaRPr lang="en-US" sz="1785" dirty="0"/>
          </a:p>
        </p:txBody>
      </p:sp>
      <p:sp>
        <p:nvSpPr>
          <p:cNvPr id="9" name="Text 6"/>
          <p:cNvSpPr/>
          <p:nvPr/>
        </p:nvSpPr>
        <p:spPr>
          <a:xfrm>
            <a:off x="9872067" y="3643074"/>
            <a:ext cx="2977039" cy="372070"/>
          </a:xfrm>
          <a:prstGeom prst="rect">
            <a:avLst/>
          </a:prstGeom>
          <a:noFill/>
        </p:spPr>
        <p:txBody>
          <a:bodyPr wrap="none" rtlCol="0" anchor="t"/>
          <a:lstStyle/>
          <a:p>
            <a:pPr marL="0" indent="0">
              <a:lnSpc>
                <a:spcPts val="2930"/>
              </a:lnSpc>
              <a:buNone/>
            </a:pPr>
            <a:r>
              <a:rPr lang="en-US" sz="2345" b="1" dirty="0">
                <a:solidFill>
                  <a:srgbClr val="000000"/>
                </a:solidFill>
                <a:latin typeface="Petrona" pitchFamily="34" charset="0"/>
                <a:ea typeface="Petrona" pitchFamily="34" charset="-122"/>
                <a:cs typeface="Petrona" pitchFamily="34" charset="-120"/>
              </a:rPr>
              <a:t>Stunning Visuals</a:t>
            </a:r>
            <a:endParaRPr lang="en-US" sz="2345" dirty="0"/>
          </a:p>
        </p:txBody>
      </p:sp>
      <p:sp>
        <p:nvSpPr>
          <p:cNvPr id="10" name="Text 7"/>
          <p:cNvSpPr/>
          <p:nvPr/>
        </p:nvSpPr>
        <p:spPr>
          <a:xfrm>
            <a:off x="9872067" y="4241959"/>
            <a:ext cx="3978116" cy="1451610"/>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Feast your eyes on breathtaking environments, where each scene is a masterpiece of color, light, and attention to detail.</a:t>
            </a:r>
            <a:endParaRPr lang="en-US" sz="178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4" name="TextBox 3"/>
          <p:cNvSpPr txBox="1"/>
          <p:nvPr/>
        </p:nvSpPr>
        <p:spPr>
          <a:xfrm>
            <a:off x="208547" y="526942"/>
            <a:ext cx="6571158" cy="814069"/>
          </a:xfrm>
          <a:prstGeom prst="rect">
            <a:avLst/>
          </a:prstGeom>
          <a:noFill/>
        </p:spPr>
        <p:txBody>
          <a:bodyPr wrap="none" rtlCol="0">
            <a:spAutoFit/>
          </a:bodyPr>
          <a:lstStyle/>
          <a:p>
            <a:r>
              <a:rPr lang="en-US" sz="4690" b="1" dirty="0" smtClean="0">
                <a:latin typeface="Petrona"/>
                <a:ea typeface="Petrona"/>
              </a:rPr>
              <a:t>About  Android Studio</a:t>
            </a:r>
            <a:endParaRPr lang="en-US" sz="4690" b="1" dirty="0">
              <a:latin typeface="Petrona"/>
              <a:ea typeface="Petrona"/>
            </a:endParaRPr>
          </a:p>
        </p:txBody>
      </p:sp>
      <p:pic>
        <p:nvPicPr>
          <p:cNvPr id="1028" name="Picture 4" descr="C:\Users\D.JAYA PAL\Downloads\WhatsApp Image 2024-11-10 at 2.42.55 PM.jpeg"/>
          <p:cNvPicPr>
            <a:picLocks noChangeAspect="1" noChangeArrowheads="1"/>
          </p:cNvPicPr>
          <p:nvPr/>
        </p:nvPicPr>
        <p:blipFill>
          <a:blip r:embed="rId3"/>
          <a:srcRect/>
          <a:stretch>
            <a:fillRect/>
          </a:stretch>
        </p:blipFill>
        <p:spPr bwMode="auto">
          <a:xfrm>
            <a:off x="8762716" y="0"/>
            <a:ext cx="5867684" cy="3502616"/>
          </a:xfrm>
          <a:prstGeom prst="rect">
            <a:avLst/>
          </a:prstGeom>
          <a:noFill/>
        </p:spPr>
      </p:pic>
      <p:sp>
        <p:nvSpPr>
          <p:cNvPr id="8" name="TextBox 7"/>
          <p:cNvSpPr txBox="1"/>
          <p:nvPr/>
        </p:nvSpPr>
        <p:spPr>
          <a:xfrm>
            <a:off x="1565329" y="1939915"/>
            <a:ext cx="2014779" cy="369332"/>
          </a:xfrm>
          <a:prstGeom prst="rect">
            <a:avLst/>
          </a:prstGeom>
          <a:noFill/>
        </p:spPr>
        <p:txBody>
          <a:bodyPr wrap="square" rtlCol="0">
            <a:spAutoFit/>
          </a:bodyPr>
          <a:lstStyle/>
          <a:p>
            <a:endParaRPr lang="en-US" dirty="0">
              <a:latin typeface="Petrona"/>
              <a:ea typeface="Petrona"/>
            </a:endParaRPr>
          </a:p>
        </p:txBody>
      </p:sp>
      <p:sp>
        <p:nvSpPr>
          <p:cNvPr id="1029" name="Rectangle 5"/>
          <p:cNvSpPr>
            <a:spLocks noChangeArrowheads="1"/>
          </p:cNvSpPr>
          <p:nvPr/>
        </p:nvSpPr>
        <p:spPr bwMode="auto">
          <a:xfrm>
            <a:off x="208547" y="1549831"/>
            <a:ext cx="8207033" cy="221599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sz="2400" b="1" i="0" strike="noStrike" cap="none" normalizeH="0" baseline="0" dirty="0" smtClean="0">
                <a:ln>
                  <a:noFill/>
                </a:ln>
                <a:solidFill>
                  <a:schemeClr val="tx1"/>
                </a:solidFill>
                <a:effectLst/>
                <a:latin typeface="Petrona"/>
                <a:ea typeface="Petrona"/>
                <a:cs typeface="Gautami" pitchFamily="34" charset="0"/>
              </a:rPr>
              <a:t>Introduction</a:t>
            </a:r>
          </a:p>
          <a:p>
            <a:pPr marL="0" marR="0" lvl="0" indent="0" algn="l" defTabSz="914400" rtl="0" eaLnBrk="1" fontAlgn="base" latinLnBrk="0" hangingPunct="1">
              <a:lnSpc>
                <a:spcPct val="100000"/>
              </a:lnSpc>
              <a:spcBef>
                <a:spcPct val="0"/>
              </a:spcBef>
              <a:spcAft>
                <a:spcPct val="0"/>
              </a:spcAft>
              <a:buClrTx/>
              <a:buSzTx/>
              <a:buFontTx/>
              <a:buChar char="•"/>
              <a:tabLst/>
            </a:pPr>
            <a:endParaRPr kumimoji="0" lang="en-US" sz="2400" b="1" i="0"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Californian FB" pitchFamily="18" charset="0"/>
                <a:ea typeface="Calibri" pitchFamily="34" charset="0"/>
                <a:cs typeface="Gautami" pitchFamily="34" charset="0"/>
              </a:rPr>
              <a:t>     </a:t>
            </a:r>
            <a:r>
              <a:rPr kumimoji="0" lang="en-US" b="0" i="0" u="none" strike="noStrike" cap="none" normalizeH="0" baseline="0" dirty="0" smtClean="0">
                <a:ln>
                  <a:noFill/>
                </a:ln>
                <a:solidFill>
                  <a:schemeClr val="tx1"/>
                </a:solidFill>
                <a:effectLst/>
                <a:latin typeface="Inter"/>
                <a:ea typeface="Inter"/>
                <a:cs typeface="Gautami" pitchFamily="34" charset="0"/>
              </a:rPr>
              <a:t>Android studio is the official integrated development</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Inter"/>
                <a:ea typeface="Inter"/>
                <a:cs typeface="Gautami" pitchFamily="34" charset="0"/>
              </a:rPr>
              <a:t>Environment (IDE) for Google’s android operating system, built on Jet Brains’ IntelliJ IDEA software and designed specifically for Android development. It was announced in 2013 at the Google I/O conference and has since become the primary tool for Android app development.</a:t>
            </a:r>
            <a:endParaRPr kumimoji="0" lang="en-US" b="0" i="0" u="none" strike="noStrike" cap="none" normalizeH="0" baseline="0" dirty="0" smtClean="0">
              <a:ln>
                <a:noFill/>
              </a:ln>
              <a:solidFill>
                <a:schemeClr val="tx1"/>
              </a:solidFill>
              <a:effectLst/>
              <a:latin typeface="Inter"/>
              <a:ea typeface="Inter"/>
              <a:cs typeface="Arial" pitchFamily="34" charset="0"/>
            </a:endParaRPr>
          </a:p>
        </p:txBody>
      </p:sp>
      <p:sp>
        <p:nvSpPr>
          <p:cNvPr id="1030" name="Rectangle 6"/>
          <p:cNvSpPr>
            <a:spLocks noChangeArrowheads="1"/>
          </p:cNvSpPr>
          <p:nvPr/>
        </p:nvSpPr>
        <p:spPr bwMode="auto">
          <a:xfrm>
            <a:off x="-187228" y="4068038"/>
            <a:ext cx="9148658" cy="360098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381000" algn="just" defTabSz="914400" rtl="0" eaLnBrk="1" fontAlgn="base" latinLnBrk="0" hangingPunct="1">
              <a:lnSpc>
                <a:spcPct val="100000"/>
              </a:lnSpc>
              <a:spcBef>
                <a:spcPct val="0"/>
              </a:spcBef>
              <a:spcAft>
                <a:spcPct val="0"/>
              </a:spcAft>
              <a:buClrTx/>
              <a:buSzTx/>
              <a:tabLst/>
            </a:pPr>
            <a:r>
              <a:rPr kumimoji="0" lang="en-US" sz="2400" b="1" i="0" strike="noStrike" cap="none" normalizeH="0" baseline="0" dirty="0" smtClean="0">
                <a:ln>
                  <a:noFill/>
                </a:ln>
                <a:solidFill>
                  <a:schemeClr val="tx1"/>
                </a:solidFill>
                <a:effectLst/>
                <a:latin typeface="Petrona"/>
                <a:ea typeface="Petrona"/>
                <a:cs typeface="Gautami" pitchFamily="34" charset="0"/>
              </a:rPr>
              <a:t>Key Features Of Android Studio</a:t>
            </a:r>
          </a:p>
          <a:p>
            <a:pPr marL="0" marR="0" lvl="0" indent="381000" algn="just" defTabSz="914400" rtl="0" eaLnBrk="1" fontAlgn="base" latinLnBrk="0" hangingPunct="1">
              <a:lnSpc>
                <a:spcPct val="100000"/>
              </a:lnSpc>
              <a:spcBef>
                <a:spcPct val="0"/>
              </a:spcBef>
              <a:spcAft>
                <a:spcPct val="0"/>
              </a:spcAft>
              <a:buClrTx/>
              <a:buSzTx/>
              <a:tabLst/>
            </a:pPr>
            <a:endParaRPr kumimoji="0" lang="en-US" sz="2400" b="1" i="0" strike="noStrike" cap="none" normalizeH="0" baseline="0" dirty="0" smtClean="0">
              <a:ln>
                <a:noFill/>
              </a:ln>
              <a:solidFill>
                <a:schemeClr val="tx1"/>
              </a:solidFill>
              <a:effectLst/>
              <a:latin typeface="Petrona"/>
              <a:ea typeface="Petrona"/>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Californian FB" pitchFamily="18" charset="0"/>
                <a:ea typeface="Calibri" pitchFamily="34" charset="0"/>
                <a:cs typeface="Gautami" pitchFamily="34" charset="0"/>
              </a:rPr>
              <a:t>1</a:t>
            </a:r>
            <a:r>
              <a:rPr kumimoji="0" lang="en-US" b="1" i="0" u="none" strike="noStrike" cap="none" normalizeH="0" baseline="0" dirty="0" smtClean="0">
                <a:ln>
                  <a:noFill/>
                </a:ln>
                <a:solidFill>
                  <a:schemeClr val="tx1"/>
                </a:solidFill>
                <a:effectLst/>
                <a:latin typeface="Inter"/>
                <a:ea typeface="Inter"/>
                <a:cs typeface="Gautami" pitchFamily="34" charset="0"/>
              </a:rPr>
              <a:t>) INTELLIGENT CODE EDITOR</a:t>
            </a:r>
            <a:r>
              <a:rPr kumimoji="0" lang="en-US" b="0" i="0" u="none" strike="noStrike" cap="none" normalizeH="0" baseline="0" dirty="0" smtClean="0">
                <a:ln>
                  <a:noFill/>
                </a:ln>
                <a:solidFill>
                  <a:schemeClr val="tx1"/>
                </a:solidFill>
                <a:effectLst/>
                <a:latin typeface="Inter"/>
                <a:ea typeface="Inter"/>
                <a:cs typeface="Gautami" pitchFamily="34" charset="0"/>
              </a:rPr>
              <a:t>:</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Inter"/>
                <a:ea typeface="Inter"/>
                <a:cs typeface="Gautami" pitchFamily="34" charset="0"/>
              </a:rPr>
              <a:t>	Offers advanced code completion, refactoring, and real time code analysis.</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Inter"/>
                <a:ea typeface="Inter"/>
                <a:cs typeface="Gautami" pitchFamily="34" charset="0"/>
              </a:rPr>
              <a:t>2) FAST EMULATOR:</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Inter"/>
                <a:ea typeface="Inter"/>
                <a:cs typeface="Gautami" pitchFamily="34" charset="0"/>
              </a:rPr>
              <a:t>        Provides a fast and feature-rich emulator to test and debug apps in various</a:t>
            </a:r>
          </a:p>
          <a:p>
            <a:pPr marL="0" marR="0" lvl="0" indent="381000" algn="just" defTabSz="914400" rtl="0" eaLnBrk="0" fontAlgn="base" latinLnBrk="0" hangingPunct="0">
              <a:lnSpc>
                <a:spcPct val="100000"/>
              </a:lnSpc>
              <a:spcBef>
                <a:spcPct val="0"/>
              </a:spcBef>
              <a:spcAft>
                <a:spcPct val="0"/>
              </a:spcAft>
              <a:buClrTx/>
              <a:buSzTx/>
              <a:buFontTx/>
              <a:buNone/>
              <a:tabLst/>
            </a:pPr>
            <a:r>
              <a:rPr lang="en-US" dirty="0" smtClean="0">
                <a:latin typeface="Inter"/>
                <a:ea typeface="Inter"/>
                <a:cs typeface="Gautami" pitchFamily="34" charset="0"/>
              </a:rPr>
              <a:t> </a:t>
            </a:r>
            <a:r>
              <a:rPr lang="en-US" dirty="0" smtClean="0">
                <a:latin typeface="Inter"/>
                <a:ea typeface="Inter"/>
                <a:cs typeface="Gautami" pitchFamily="34" charset="0"/>
              </a:rPr>
              <a:t>     </a:t>
            </a:r>
            <a:r>
              <a:rPr kumimoji="0" lang="en-US" b="0" i="0" u="none" strike="noStrike" cap="none" normalizeH="0" baseline="0" dirty="0" smtClean="0">
                <a:ln>
                  <a:noFill/>
                </a:ln>
                <a:solidFill>
                  <a:schemeClr val="tx1"/>
                </a:solidFill>
                <a:effectLst/>
                <a:latin typeface="Inter"/>
                <a:ea typeface="Inter"/>
                <a:cs typeface="Gautami" pitchFamily="34" charset="0"/>
              </a:rPr>
              <a:t> environments.</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Inter"/>
                <a:ea typeface="Inter"/>
                <a:cs typeface="Gautami" pitchFamily="34" charset="0"/>
              </a:rPr>
              <a:t>3) FLEXIBLE BUILD SYSTEM:</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Inter"/>
                <a:ea typeface="Inter"/>
                <a:cs typeface="Gautami" pitchFamily="34" charset="0"/>
              </a:rPr>
              <a:t>        Based on Gradle, it allows for more custom build configuration and automation.</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Inter"/>
                <a:ea typeface="Inter"/>
                <a:cs typeface="Gautami" pitchFamily="34" charset="0"/>
              </a:rPr>
              <a:t>4) LAYOUT EDITOR:</a:t>
            </a:r>
            <a:endParaRPr kumimoji="0" lang="en-US" b="0" i="0" u="none" strike="noStrike" cap="none" normalizeH="0" baseline="0" dirty="0" smtClean="0">
              <a:ln>
                <a:noFill/>
              </a:ln>
              <a:solidFill>
                <a:schemeClr val="tx1"/>
              </a:solidFill>
              <a:effectLst/>
              <a:latin typeface="Inter"/>
              <a:ea typeface="Inter"/>
              <a:cs typeface="Arial" pitchFamily="34" charset="0"/>
            </a:endParaRPr>
          </a:p>
          <a:p>
            <a:pPr marL="0" marR="0" lvl="0" indent="38100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Inter"/>
                <a:ea typeface="Inter"/>
                <a:cs typeface="Gautami" pitchFamily="34" charset="0"/>
              </a:rPr>
              <a:t>        A powerful tool for designing and previewing app UIs, with support for drag-and</a:t>
            </a:r>
          </a:p>
          <a:p>
            <a:pPr marL="0" marR="0" lvl="0" indent="381000" algn="just" defTabSz="914400" rtl="0" eaLnBrk="0" fontAlgn="base" latinLnBrk="0" hangingPunct="0">
              <a:lnSpc>
                <a:spcPct val="100000"/>
              </a:lnSpc>
              <a:spcBef>
                <a:spcPct val="0"/>
              </a:spcBef>
              <a:spcAft>
                <a:spcPct val="0"/>
              </a:spcAft>
              <a:buClrTx/>
              <a:buSzTx/>
              <a:buFontTx/>
              <a:buNone/>
              <a:tabLst/>
            </a:pPr>
            <a:r>
              <a:rPr lang="en-US" dirty="0" smtClean="0">
                <a:latin typeface="Inter"/>
                <a:ea typeface="Inter"/>
                <a:cs typeface="Gautami" pitchFamily="34" charset="0"/>
              </a:rPr>
              <a:t> </a:t>
            </a:r>
            <a:r>
              <a:rPr lang="en-US" dirty="0" smtClean="0">
                <a:latin typeface="Inter"/>
                <a:ea typeface="Inter"/>
                <a:cs typeface="Gautami" pitchFamily="34" charset="0"/>
              </a:rPr>
              <a:t>       </a:t>
            </a:r>
            <a:r>
              <a:rPr kumimoji="0" lang="en-US" b="0" i="0" u="none" strike="noStrike" cap="none" normalizeH="0" baseline="0" dirty="0" smtClean="0">
                <a:ln>
                  <a:noFill/>
                </a:ln>
                <a:solidFill>
                  <a:schemeClr val="tx1"/>
                </a:solidFill>
                <a:effectLst/>
                <a:latin typeface="Inter"/>
                <a:ea typeface="Inter"/>
                <a:cs typeface="Gautami" pitchFamily="34" charset="0"/>
              </a:rPr>
              <a:t>-drop components and real-time rendering.</a:t>
            </a:r>
            <a:endParaRPr kumimoji="0" lang="en-US" b="0" i="0" u="none" strike="noStrike" cap="none" normalizeH="0" baseline="0" dirty="0" smtClean="0">
              <a:ln>
                <a:noFill/>
              </a:ln>
              <a:solidFill>
                <a:schemeClr val="tx1"/>
              </a:solidFill>
              <a:effectLst/>
              <a:latin typeface="Inter"/>
              <a:ea typeface="Inter"/>
              <a:cs typeface="Arial" pitchFamily="34" charset="0"/>
            </a:endParaRPr>
          </a:p>
        </p:txBody>
      </p:sp>
      <p:sp>
        <p:nvSpPr>
          <p:cNvPr id="1031" name="Rectangle 7"/>
          <p:cNvSpPr>
            <a:spLocks noChangeArrowheads="1"/>
          </p:cNvSpPr>
          <p:nvPr/>
        </p:nvSpPr>
        <p:spPr bwMode="auto">
          <a:xfrm>
            <a:off x="9243163" y="4068038"/>
            <a:ext cx="6317135" cy="480131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28600" algn="l" defTabSz="914400" rtl="0" eaLnBrk="1" fontAlgn="base" latinLnBrk="0" hangingPunct="1">
              <a:lnSpc>
                <a:spcPct val="100000"/>
              </a:lnSpc>
              <a:spcBef>
                <a:spcPct val="0"/>
              </a:spcBef>
              <a:spcAft>
                <a:spcPct val="0"/>
              </a:spcAft>
              <a:buClrTx/>
              <a:buSzTx/>
              <a:tabLst/>
            </a:pPr>
            <a:r>
              <a:rPr lang="en-US" sz="2400" b="1" dirty="0" smtClean="0">
                <a:latin typeface="Petrona"/>
                <a:ea typeface="Petrona"/>
                <a:cs typeface="Gautami" pitchFamily="34" charset="0"/>
              </a:rPr>
              <a:t>Android  Versions  in  Order</a:t>
            </a:r>
          </a:p>
          <a:p>
            <a:pPr marL="0" marR="0" lvl="0" indent="228600" algn="l" defTabSz="914400" rtl="0" eaLnBrk="1" fontAlgn="base" latinLnBrk="0" hangingPunct="1">
              <a:lnSpc>
                <a:spcPct val="100000"/>
              </a:lnSpc>
              <a:spcBef>
                <a:spcPct val="0"/>
              </a:spcBef>
              <a:spcAft>
                <a:spcPct val="0"/>
              </a:spcAft>
              <a:buClrTx/>
              <a:buSzTx/>
              <a:tabLst/>
            </a:pPr>
            <a:endParaRPr lang="en-US" b="1" dirty="0" smtClean="0">
              <a:latin typeface="Inter"/>
              <a:ea typeface="Inter"/>
              <a:cs typeface="Gautami" pitchFamily="34" charset="0"/>
            </a:endParaRPr>
          </a:p>
          <a:p>
            <a:r>
              <a:rPr lang="en-US" b="1" dirty="0" smtClean="0">
                <a:latin typeface="Inter"/>
                <a:ea typeface="Inter"/>
              </a:rPr>
              <a:t>A-</a:t>
            </a:r>
            <a:r>
              <a:rPr lang="en-US" dirty="0" smtClean="0">
                <a:latin typeface="Inter"/>
                <a:ea typeface="Inter"/>
              </a:rPr>
              <a:t>Alpha </a:t>
            </a:r>
            <a:r>
              <a:rPr lang="en-US" b="1" dirty="0" smtClean="0">
                <a:latin typeface="Inter"/>
                <a:ea typeface="Inter"/>
              </a:rPr>
              <a:t>                  </a:t>
            </a:r>
            <a:r>
              <a:rPr lang="en-US" b="1" dirty="0" smtClean="0"/>
              <a:t>G-</a:t>
            </a:r>
            <a:r>
              <a:rPr lang="en-US" dirty="0" err="1" smtClean="0"/>
              <a:t>GingerBread</a:t>
            </a:r>
            <a:r>
              <a:rPr lang="en-US" dirty="0" smtClean="0">
                <a:latin typeface="Inter"/>
                <a:ea typeface="Inter"/>
              </a:rPr>
              <a:t> </a:t>
            </a:r>
            <a:r>
              <a:rPr lang="en-US" b="1" dirty="0" smtClean="0">
                <a:latin typeface="Inter"/>
                <a:ea typeface="Inter"/>
              </a:rPr>
              <a:t>            </a:t>
            </a:r>
            <a:endParaRPr lang="en-US" b="1" dirty="0" smtClean="0">
              <a:latin typeface="Inter"/>
              <a:ea typeface="Inter"/>
            </a:endParaRPr>
          </a:p>
          <a:p>
            <a:r>
              <a:rPr lang="en-US" b="1" dirty="0" smtClean="0">
                <a:latin typeface="Inter"/>
                <a:ea typeface="Inter"/>
              </a:rPr>
              <a:t>B-</a:t>
            </a:r>
            <a:r>
              <a:rPr lang="en-US" dirty="0" smtClean="0">
                <a:latin typeface="Inter"/>
                <a:ea typeface="Inter"/>
              </a:rPr>
              <a:t>Beta                    </a:t>
            </a:r>
            <a:r>
              <a:rPr lang="en-US" b="1" dirty="0" smtClean="0"/>
              <a:t>H-</a:t>
            </a:r>
            <a:r>
              <a:rPr lang="en-US" dirty="0" err="1" smtClean="0"/>
              <a:t>HoneyComb</a:t>
            </a:r>
            <a:endParaRPr lang="en-US" dirty="0" smtClean="0">
              <a:latin typeface="Inter"/>
              <a:ea typeface="Inter"/>
            </a:endParaRPr>
          </a:p>
          <a:p>
            <a:r>
              <a:rPr lang="en-US" b="1" dirty="0" smtClean="0">
                <a:latin typeface="Inter"/>
                <a:ea typeface="Inter"/>
              </a:rPr>
              <a:t>C-</a:t>
            </a:r>
            <a:r>
              <a:rPr lang="en-US" dirty="0" smtClean="0">
                <a:latin typeface="Inter"/>
                <a:ea typeface="Inter"/>
              </a:rPr>
              <a:t>Cupcake              </a:t>
            </a:r>
            <a:r>
              <a:rPr lang="en-US" b="1" dirty="0" smtClean="0"/>
              <a:t>I-</a:t>
            </a:r>
            <a:r>
              <a:rPr lang="en-US" dirty="0" smtClean="0"/>
              <a:t>Ice </a:t>
            </a:r>
            <a:r>
              <a:rPr lang="en-US" dirty="0" smtClean="0"/>
              <a:t>Cream </a:t>
            </a:r>
            <a:r>
              <a:rPr lang="en-US" dirty="0" smtClean="0"/>
              <a:t>Sandwich</a:t>
            </a:r>
            <a:endParaRPr lang="en-US" dirty="0" smtClean="0">
              <a:latin typeface="Inter"/>
              <a:ea typeface="Inter"/>
            </a:endParaRPr>
          </a:p>
          <a:p>
            <a:r>
              <a:rPr lang="en-US" b="1" dirty="0" smtClean="0">
                <a:latin typeface="Inter"/>
                <a:ea typeface="Inter"/>
              </a:rPr>
              <a:t>D-</a:t>
            </a:r>
            <a:r>
              <a:rPr lang="en-US" dirty="0" smtClean="0">
                <a:latin typeface="Inter"/>
                <a:ea typeface="Inter"/>
              </a:rPr>
              <a:t>Donut                  </a:t>
            </a:r>
            <a:r>
              <a:rPr lang="en-US" b="1" dirty="0" smtClean="0"/>
              <a:t>J-</a:t>
            </a:r>
            <a:r>
              <a:rPr lang="en-US" dirty="0" smtClean="0"/>
              <a:t>Jellybean</a:t>
            </a:r>
            <a:endParaRPr lang="en-US" dirty="0" smtClean="0">
              <a:latin typeface="Inter"/>
              <a:ea typeface="Inter"/>
            </a:endParaRPr>
          </a:p>
          <a:p>
            <a:r>
              <a:rPr lang="en-US" b="1" dirty="0" smtClean="0">
                <a:latin typeface="Inter"/>
                <a:ea typeface="Inter"/>
              </a:rPr>
              <a:t>E-</a:t>
            </a:r>
            <a:r>
              <a:rPr lang="en-US" dirty="0" smtClean="0">
                <a:latin typeface="Inter"/>
                <a:ea typeface="Inter"/>
              </a:rPr>
              <a:t>Éclair                   </a:t>
            </a:r>
            <a:r>
              <a:rPr lang="en-US" b="1" dirty="0" smtClean="0"/>
              <a:t>K</a:t>
            </a:r>
            <a:r>
              <a:rPr lang="en-US" dirty="0" smtClean="0"/>
              <a:t>-Kit </a:t>
            </a:r>
            <a:r>
              <a:rPr lang="en-US" dirty="0" smtClean="0"/>
              <a:t>Kat</a:t>
            </a:r>
            <a:endParaRPr lang="en-US" dirty="0" smtClean="0">
              <a:latin typeface="Inter"/>
              <a:ea typeface="Inter"/>
            </a:endParaRPr>
          </a:p>
          <a:p>
            <a:r>
              <a:rPr lang="en-US" b="1" dirty="0" smtClean="0">
                <a:latin typeface="Inter"/>
                <a:ea typeface="Inter"/>
              </a:rPr>
              <a:t>F-</a:t>
            </a:r>
            <a:r>
              <a:rPr lang="en-US" dirty="0" err="1" smtClean="0">
                <a:latin typeface="Inter"/>
                <a:ea typeface="Inter"/>
              </a:rPr>
              <a:t>Froye</a:t>
            </a:r>
            <a:r>
              <a:rPr lang="en-US" dirty="0" smtClean="0">
                <a:latin typeface="Inter"/>
                <a:ea typeface="Inter"/>
              </a:rPr>
              <a:t>                   </a:t>
            </a:r>
            <a:r>
              <a:rPr lang="en-US" b="1" dirty="0" smtClean="0"/>
              <a:t>L-</a:t>
            </a:r>
            <a:r>
              <a:rPr lang="en-US" dirty="0" smtClean="0"/>
              <a:t>Lollypop</a:t>
            </a:r>
          </a:p>
          <a:p>
            <a:r>
              <a:rPr lang="en-US" b="1" dirty="0" smtClean="0"/>
              <a:t>M-</a:t>
            </a:r>
            <a:r>
              <a:rPr lang="en-US" dirty="0" smtClean="0"/>
              <a:t>Marshmallow         </a:t>
            </a:r>
            <a:r>
              <a:rPr lang="en-US" b="1" dirty="0" smtClean="0"/>
              <a:t>N-</a:t>
            </a:r>
            <a:r>
              <a:rPr lang="en-US" dirty="0" err="1" smtClean="0"/>
              <a:t>Nought</a:t>
            </a:r>
            <a:endParaRPr lang="en-US" dirty="0" smtClean="0"/>
          </a:p>
          <a:p>
            <a:r>
              <a:rPr lang="en-US" b="1" dirty="0" smtClean="0"/>
              <a:t>O-</a:t>
            </a:r>
            <a:r>
              <a:rPr lang="en-US" dirty="0" smtClean="0"/>
              <a:t>Oreo                          </a:t>
            </a:r>
            <a:r>
              <a:rPr lang="en-US" b="1" dirty="0" smtClean="0"/>
              <a:t>P-</a:t>
            </a:r>
            <a:r>
              <a:rPr lang="en-US" dirty="0" smtClean="0"/>
              <a:t>pie</a:t>
            </a:r>
          </a:p>
          <a:p>
            <a:endParaRPr lang="en-US" dirty="0" smtClean="0"/>
          </a:p>
          <a:p>
            <a:endParaRPr lang="en-US" dirty="0" smtClean="0"/>
          </a:p>
          <a:p>
            <a:endParaRPr lang="en-US" dirty="0" smtClean="0"/>
          </a:p>
          <a:p>
            <a:endParaRPr lang="en-US" dirty="0" smtClean="0">
              <a:latin typeface="Inter"/>
              <a:ea typeface="Inter"/>
            </a:endParaRPr>
          </a:p>
          <a:p>
            <a:pPr marL="0" marR="0" lvl="0" indent="228600" algn="l" defTabSz="914400" rtl="0" eaLnBrk="1" fontAlgn="base" latinLnBrk="0" hangingPunct="1">
              <a:lnSpc>
                <a:spcPct val="100000"/>
              </a:lnSpc>
              <a:spcBef>
                <a:spcPct val="0"/>
              </a:spcBef>
              <a:spcAft>
                <a:spcPct val="0"/>
              </a:spcAft>
              <a:buClrTx/>
              <a:buSzTx/>
              <a:tabLst/>
            </a:pPr>
            <a:endParaRPr lang="en-US" sz="2400" b="1" dirty="0" smtClean="0">
              <a:latin typeface="Petrona"/>
              <a:ea typeface="Petrona"/>
              <a:cs typeface="Gautami" pitchFamily="34" charset="0"/>
            </a:endParaRPr>
          </a:p>
          <a:p>
            <a:pPr marL="0" marR="0" lvl="0" indent="228600" algn="l" defTabSz="914400" rtl="0" eaLnBrk="1" fontAlgn="base" latinLnBrk="0" hangingPunct="1">
              <a:lnSpc>
                <a:spcPct val="100000"/>
              </a:lnSpc>
              <a:spcBef>
                <a:spcPct val="0"/>
              </a:spcBef>
              <a:spcAft>
                <a:spcPct val="0"/>
              </a:spcAft>
              <a:buClrTx/>
              <a:buSzTx/>
              <a:tabLst/>
            </a:pPr>
            <a:endParaRPr lang="en-US" sz="2400" b="1" dirty="0" smtClean="0">
              <a:latin typeface="Petrona"/>
              <a:ea typeface="Petrona"/>
              <a:cs typeface="Gautami"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26625" name="Rectangle 1"/>
          <p:cNvSpPr>
            <a:spLocks noChangeArrowheads="1"/>
          </p:cNvSpPr>
          <p:nvPr/>
        </p:nvSpPr>
        <p:spPr bwMode="auto">
          <a:xfrm>
            <a:off x="387458" y="193320"/>
            <a:ext cx="10044737" cy="8140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sz="4400" b="1" i="0" strike="noStrike" cap="none" normalizeH="0" baseline="0" dirty="0" smtClean="0">
                <a:ln>
                  <a:noFill/>
                </a:ln>
                <a:solidFill>
                  <a:schemeClr val="tx1"/>
                </a:solidFill>
                <a:effectLst/>
                <a:latin typeface="Petrona"/>
                <a:ea typeface="Petrona"/>
                <a:cs typeface="Gautami" pitchFamily="34" charset="0"/>
              </a:rPr>
              <a:t>Programming Language </a:t>
            </a:r>
            <a:r>
              <a:rPr kumimoji="0" lang="en-US" sz="4690" b="1" i="0" strike="noStrike" cap="none" normalizeH="0" baseline="0" dirty="0" smtClean="0">
                <a:ln>
                  <a:noFill/>
                </a:ln>
                <a:solidFill>
                  <a:schemeClr val="tx1"/>
                </a:solidFill>
                <a:effectLst/>
                <a:latin typeface="Petrona"/>
                <a:ea typeface="Petrona"/>
                <a:cs typeface="Gautami" pitchFamily="34" charset="0"/>
              </a:rPr>
              <a:t>Used (java)</a:t>
            </a:r>
            <a:endParaRPr kumimoji="0" lang="en-US" sz="4690" b="0" i="0" strike="noStrike" cap="none" normalizeH="0" baseline="0" dirty="0" smtClean="0">
              <a:ln>
                <a:noFill/>
              </a:ln>
              <a:solidFill>
                <a:schemeClr val="tx1"/>
              </a:solidFill>
              <a:effectLst/>
              <a:latin typeface="Petrona"/>
              <a:ea typeface="Petrona"/>
              <a:cs typeface="Arial" pitchFamily="34" charset="0"/>
            </a:endParaRPr>
          </a:p>
        </p:txBody>
      </p:sp>
      <p:sp>
        <p:nvSpPr>
          <p:cNvPr id="4" name="Rectangle 3"/>
          <p:cNvSpPr/>
          <p:nvPr/>
        </p:nvSpPr>
        <p:spPr>
          <a:xfrm>
            <a:off x="1239865" y="1227650"/>
            <a:ext cx="12445138" cy="923330"/>
          </a:xfrm>
          <a:prstGeom prst="rect">
            <a:avLst/>
          </a:prstGeom>
        </p:spPr>
        <p:txBody>
          <a:bodyPr wrap="square">
            <a:spAutoFit/>
          </a:bodyPr>
          <a:lstStyle/>
          <a:p>
            <a:r>
              <a:rPr lang="en-US" dirty="0" smtClean="0">
                <a:latin typeface="Inter"/>
                <a:ea typeface="Inter"/>
              </a:rPr>
              <a:t>Android application development in Java refers to the process of creating mobile applications for Android devices using the Java programming </a:t>
            </a:r>
            <a:r>
              <a:rPr lang="en-US" dirty="0" smtClean="0">
                <a:latin typeface="Inter"/>
                <a:ea typeface="Inter"/>
              </a:rPr>
              <a:t>language. </a:t>
            </a:r>
            <a:r>
              <a:rPr lang="en-US" dirty="0" smtClean="0">
                <a:latin typeface="Inter"/>
                <a:ea typeface="Inter"/>
              </a:rPr>
              <a:t>These apps are then compiled and run on Android smartphones, tablets, or other devices. Java is one of the primary languages used for Android </a:t>
            </a:r>
            <a:r>
              <a:rPr lang="en-US" dirty="0" smtClean="0">
                <a:latin typeface="Inter"/>
                <a:ea typeface="Inter"/>
              </a:rPr>
              <a:t>development.</a:t>
            </a:r>
            <a:endParaRPr lang="en-US" dirty="0">
              <a:latin typeface="Inter"/>
              <a:ea typeface="Inter"/>
            </a:endParaRPr>
          </a:p>
        </p:txBody>
      </p:sp>
      <p:sp>
        <p:nvSpPr>
          <p:cNvPr id="7" name="Rectangle 6"/>
          <p:cNvSpPr/>
          <p:nvPr/>
        </p:nvSpPr>
        <p:spPr>
          <a:xfrm>
            <a:off x="2541722" y="2448732"/>
            <a:ext cx="11995689" cy="923330"/>
          </a:xfrm>
          <a:prstGeom prst="rect">
            <a:avLst/>
          </a:prstGeom>
        </p:spPr>
        <p:txBody>
          <a:bodyPr wrap="square">
            <a:spAutoFit/>
          </a:bodyPr>
          <a:lstStyle/>
          <a:p>
            <a:r>
              <a:rPr lang="en-US" b="1" dirty="0" smtClean="0">
                <a:latin typeface="Inter"/>
                <a:ea typeface="Inter"/>
              </a:rPr>
              <a:t>1. </a:t>
            </a:r>
            <a:r>
              <a:rPr lang="en-US" dirty="0" smtClean="0">
                <a:latin typeface="Inter"/>
                <a:ea typeface="Inter"/>
              </a:rPr>
              <a:t>Java as the Primary Language (Legacy or Option)Java is one of the two main programming languages supported by Android Studio for Android app development. Java is typically used to write the logic behind your Android app, defining activities, services, user interfaces, etc.</a:t>
            </a:r>
            <a:endParaRPr lang="en-US" dirty="0">
              <a:latin typeface="Inter"/>
              <a:ea typeface="Inter"/>
            </a:endParaRPr>
          </a:p>
        </p:txBody>
      </p:sp>
      <p:sp>
        <p:nvSpPr>
          <p:cNvPr id="8" name="Rectangle 7"/>
          <p:cNvSpPr/>
          <p:nvPr/>
        </p:nvSpPr>
        <p:spPr>
          <a:xfrm>
            <a:off x="2541722" y="3785856"/>
            <a:ext cx="11995689" cy="1200329"/>
          </a:xfrm>
          <a:prstGeom prst="rect">
            <a:avLst/>
          </a:prstGeom>
        </p:spPr>
        <p:txBody>
          <a:bodyPr wrap="square">
            <a:spAutoFit/>
          </a:bodyPr>
          <a:lstStyle/>
          <a:p>
            <a:r>
              <a:rPr lang="en-US" b="1" dirty="0" smtClean="0">
                <a:latin typeface="Inter"/>
                <a:ea typeface="Inter"/>
              </a:rPr>
              <a:t>2</a:t>
            </a:r>
            <a:r>
              <a:rPr lang="en-US" dirty="0" smtClean="0">
                <a:latin typeface="Inter"/>
                <a:ea typeface="Inter"/>
              </a:rPr>
              <a:t>. </a:t>
            </a:r>
            <a:r>
              <a:rPr lang="en-US" dirty="0" smtClean="0">
                <a:latin typeface="Inter"/>
                <a:ea typeface="Inter"/>
              </a:rPr>
              <a:t>Structure of an Android Project in </a:t>
            </a:r>
            <a:r>
              <a:rPr lang="en-US" dirty="0" smtClean="0">
                <a:latin typeface="Inter"/>
                <a:ea typeface="Inter"/>
              </a:rPr>
              <a:t>Java, Java </a:t>
            </a:r>
            <a:r>
              <a:rPr lang="en-US" dirty="0" smtClean="0">
                <a:latin typeface="Inter"/>
                <a:ea typeface="Inter"/>
              </a:rPr>
              <a:t>Code: Your core Java files are typically located in the </a:t>
            </a:r>
            <a:r>
              <a:rPr lang="en-US" dirty="0" err="1" smtClean="0">
                <a:latin typeface="Inter"/>
                <a:ea typeface="Inter"/>
              </a:rPr>
              <a:t>src</a:t>
            </a:r>
            <a:r>
              <a:rPr lang="en-US" dirty="0" smtClean="0">
                <a:latin typeface="Inter"/>
                <a:ea typeface="Inter"/>
              </a:rPr>
              <a:t> folder (within </a:t>
            </a:r>
            <a:r>
              <a:rPr lang="en-US" dirty="0" err="1" smtClean="0">
                <a:latin typeface="Inter"/>
                <a:ea typeface="Inter"/>
              </a:rPr>
              <a:t>src</a:t>
            </a:r>
            <a:r>
              <a:rPr lang="en-US" dirty="0" smtClean="0">
                <a:latin typeface="Inter"/>
                <a:ea typeface="Inter"/>
              </a:rPr>
              <a:t>/main/java).XML Files: The layout and resources for your app are defined in XML files located in the res folder (e.g., res/layout/ for UI layouts).</a:t>
            </a:r>
            <a:r>
              <a:rPr lang="en-US" dirty="0" err="1" smtClean="0">
                <a:latin typeface="Inter"/>
                <a:ea typeface="Inter"/>
              </a:rPr>
              <a:t>AndroidManifest.xml</a:t>
            </a:r>
            <a:r>
              <a:rPr lang="en-US" dirty="0" smtClean="0">
                <a:latin typeface="Inter"/>
                <a:ea typeface="Inter"/>
              </a:rPr>
              <a:t>: Defines essential information about your app, such as components and permissions.</a:t>
            </a:r>
            <a:endParaRPr lang="en-US" dirty="0">
              <a:latin typeface="Inter"/>
              <a:ea typeface="Inter"/>
            </a:endParaRPr>
          </a:p>
        </p:txBody>
      </p:sp>
      <p:sp>
        <p:nvSpPr>
          <p:cNvPr id="9" name="Rectangle 8"/>
          <p:cNvSpPr/>
          <p:nvPr/>
        </p:nvSpPr>
        <p:spPr>
          <a:xfrm>
            <a:off x="2991173" y="5090279"/>
            <a:ext cx="2603715" cy="3139321"/>
          </a:xfrm>
          <a:prstGeom prst="rect">
            <a:avLst/>
          </a:prstGeom>
        </p:spPr>
        <p:txBody>
          <a:bodyPr wrap="square">
            <a:spAutoFit/>
          </a:bodyPr>
          <a:lstStyle/>
          <a:p>
            <a:r>
              <a:rPr lang="en-US" b="1" dirty="0" smtClean="0">
                <a:latin typeface="Inter"/>
                <a:ea typeface="Inter"/>
              </a:rPr>
              <a:t> project structure:- </a:t>
            </a:r>
            <a:endParaRPr lang="en-US" b="1" dirty="0" smtClean="0">
              <a:latin typeface="Inter"/>
              <a:ea typeface="Inter"/>
            </a:endParaRPr>
          </a:p>
          <a:p>
            <a:r>
              <a:rPr lang="en-US" b="1" dirty="0" smtClean="0">
                <a:latin typeface="Inter"/>
                <a:ea typeface="Inter"/>
              </a:rPr>
              <a:t> </a:t>
            </a:r>
            <a:r>
              <a:rPr lang="en-US" dirty="0" smtClean="0">
                <a:latin typeface="Inter"/>
                <a:ea typeface="Inter"/>
              </a:rPr>
              <a:t>app</a:t>
            </a:r>
            <a:r>
              <a:rPr lang="en-US" dirty="0" smtClean="0">
                <a:latin typeface="Inter"/>
                <a:ea typeface="Inter"/>
              </a:rPr>
              <a:t>/ </a:t>
            </a:r>
            <a:endParaRPr lang="en-US" dirty="0" smtClean="0">
              <a:latin typeface="Inter"/>
              <a:ea typeface="Inter"/>
            </a:endParaRPr>
          </a:p>
          <a:p>
            <a:r>
              <a:rPr lang="en-US" dirty="0" smtClean="0">
                <a:latin typeface="Inter"/>
                <a:ea typeface="Inter"/>
              </a:rPr>
              <a:t> </a:t>
            </a:r>
            <a:r>
              <a:rPr lang="en-US" dirty="0" smtClean="0">
                <a:latin typeface="Inter"/>
                <a:ea typeface="Inter"/>
              </a:rPr>
              <a:t>- </a:t>
            </a:r>
            <a:r>
              <a:rPr lang="en-US" dirty="0" err="1" smtClean="0">
                <a:latin typeface="Inter"/>
                <a:ea typeface="Inter"/>
              </a:rPr>
              <a:t>src</a:t>
            </a:r>
            <a:r>
              <a:rPr lang="en-US" dirty="0" smtClean="0">
                <a:latin typeface="Inter"/>
                <a:ea typeface="Inter"/>
              </a:rPr>
              <a:t>/   </a:t>
            </a:r>
            <a:endParaRPr lang="en-US" dirty="0" smtClean="0">
              <a:latin typeface="Inter"/>
              <a:ea typeface="Inter"/>
            </a:endParaRPr>
          </a:p>
          <a:p>
            <a:r>
              <a:rPr lang="en-US" dirty="0" smtClean="0">
                <a:latin typeface="Inter"/>
                <a:ea typeface="Inter"/>
              </a:rPr>
              <a:t> </a:t>
            </a:r>
            <a:r>
              <a:rPr lang="en-US" dirty="0" smtClean="0">
                <a:latin typeface="Inter"/>
                <a:ea typeface="Inter"/>
              </a:rPr>
              <a:t>- main/      </a:t>
            </a:r>
            <a:endParaRPr lang="en-US" dirty="0" smtClean="0">
              <a:latin typeface="Inter"/>
              <a:ea typeface="Inter"/>
            </a:endParaRPr>
          </a:p>
          <a:p>
            <a:pPr>
              <a:buFontTx/>
              <a:buChar char="-"/>
            </a:pPr>
            <a:r>
              <a:rPr lang="en-US" dirty="0" smtClean="0">
                <a:latin typeface="Inter"/>
                <a:ea typeface="Inter"/>
              </a:rPr>
              <a:t>java</a:t>
            </a:r>
            <a:r>
              <a:rPr lang="en-US" dirty="0" smtClean="0">
                <a:latin typeface="Inter"/>
                <a:ea typeface="Inter"/>
              </a:rPr>
              <a:t>/       </a:t>
            </a:r>
            <a:endParaRPr lang="en-US" dirty="0" smtClean="0">
              <a:latin typeface="Inter"/>
              <a:ea typeface="Inter"/>
            </a:endParaRPr>
          </a:p>
          <a:p>
            <a:pPr>
              <a:buFontTx/>
              <a:buChar char="-"/>
            </a:pPr>
            <a:r>
              <a:rPr lang="en-US" dirty="0" smtClean="0">
                <a:latin typeface="Inter"/>
                <a:ea typeface="Inter"/>
              </a:rPr>
              <a:t>com/example/</a:t>
            </a:r>
            <a:r>
              <a:rPr lang="en-US" dirty="0" err="1" smtClean="0">
                <a:latin typeface="Inter"/>
                <a:ea typeface="Inter"/>
              </a:rPr>
              <a:t>myapp</a:t>
            </a:r>
            <a:r>
              <a:rPr lang="en-US" dirty="0" smtClean="0">
                <a:latin typeface="Inter"/>
                <a:ea typeface="Inter"/>
              </a:rPr>
              <a:t>/          - MainActivity.java      - res/       </a:t>
            </a:r>
          </a:p>
          <a:p>
            <a:r>
              <a:rPr lang="en-US" dirty="0" smtClean="0">
                <a:latin typeface="Inter"/>
                <a:ea typeface="Inter"/>
              </a:rPr>
              <a:t> </a:t>
            </a:r>
            <a:r>
              <a:rPr lang="en-US" dirty="0" smtClean="0">
                <a:latin typeface="Inter"/>
                <a:ea typeface="Inter"/>
              </a:rPr>
              <a:t>- layout/          </a:t>
            </a:r>
            <a:endParaRPr lang="en-US" dirty="0" smtClean="0">
              <a:latin typeface="Inter"/>
              <a:ea typeface="Inter"/>
            </a:endParaRPr>
          </a:p>
          <a:p>
            <a:r>
              <a:rPr lang="en-US" dirty="0" smtClean="0">
                <a:latin typeface="Inter"/>
                <a:ea typeface="Inter"/>
              </a:rPr>
              <a:t>- </a:t>
            </a:r>
            <a:r>
              <a:rPr lang="en-US" dirty="0" smtClean="0">
                <a:latin typeface="Inter"/>
                <a:ea typeface="Inter"/>
              </a:rPr>
              <a:t>activity_main.xml      - AndroidManifest.xml</a:t>
            </a:r>
            <a:endParaRPr lang="en-US" dirty="0">
              <a:latin typeface="Inter"/>
              <a:ea typeface="Inter"/>
            </a:endParaRPr>
          </a:p>
        </p:txBody>
      </p:sp>
      <p:sp>
        <p:nvSpPr>
          <p:cNvPr id="10" name="Rectangle 9"/>
          <p:cNvSpPr/>
          <p:nvPr/>
        </p:nvSpPr>
        <p:spPr>
          <a:xfrm>
            <a:off x="6695268" y="5090279"/>
            <a:ext cx="7315200" cy="3416320"/>
          </a:xfrm>
          <a:prstGeom prst="rect">
            <a:avLst/>
          </a:prstGeom>
        </p:spPr>
        <p:txBody>
          <a:bodyPr wrap="square">
            <a:spAutoFit/>
          </a:bodyPr>
          <a:lstStyle/>
          <a:p>
            <a:r>
              <a:rPr lang="en-US" b="1" dirty="0" smtClean="0">
                <a:latin typeface="Inter"/>
                <a:ea typeface="Inter"/>
              </a:rPr>
              <a:t>Example (MainActivity.java</a:t>
            </a:r>
            <a:r>
              <a:rPr lang="en-US" b="1" dirty="0" smtClean="0">
                <a:latin typeface="Inter"/>
                <a:ea typeface="Inter"/>
              </a:rPr>
              <a:t>):</a:t>
            </a:r>
          </a:p>
          <a:p>
            <a:r>
              <a:rPr lang="en-US" b="1" dirty="0" smtClean="0">
                <a:latin typeface="Inter"/>
                <a:ea typeface="Inter"/>
              </a:rPr>
              <a:t> </a:t>
            </a:r>
            <a:r>
              <a:rPr lang="en-US" b="1" dirty="0" smtClean="0">
                <a:latin typeface="Inter"/>
                <a:ea typeface="Inter"/>
              </a:rPr>
              <a:t>               </a:t>
            </a:r>
            <a:r>
              <a:rPr lang="en-US" dirty="0" smtClean="0">
                <a:latin typeface="Inter"/>
                <a:ea typeface="Inter"/>
              </a:rPr>
              <a:t>package </a:t>
            </a:r>
            <a:r>
              <a:rPr lang="en-US" dirty="0" smtClean="0">
                <a:latin typeface="Inter"/>
                <a:ea typeface="Inter"/>
              </a:rPr>
              <a:t>com.example.myapp</a:t>
            </a:r>
            <a:r>
              <a:rPr lang="en-US" dirty="0" smtClean="0">
                <a:latin typeface="Inter"/>
                <a:ea typeface="Inter"/>
              </a:rPr>
              <a:t>;</a:t>
            </a:r>
          </a:p>
          <a:p>
            <a:r>
              <a:rPr lang="en-US" dirty="0" smtClean="0">
                <a:latin typeface="Inter"/>
                <a:ea typeface="Inter"/>
              </a:rPr>
              <a:t>                       import </a:t>
            </a:r>
            <a:r>
              <a:rPr lang="en-US" dirty="0" smtClean="0">
                <a:latin typeface="Inter"/>
                <a:ea typeface="Inter"/>
              </a:rPr>
              <a:t>android.os.Bundle</a:t>
            </a:r>
            <a:r>
              <a:rPr lang="en-US" dirty="0" smtClean="0">
                <a:latin typeface="Inter"/>
                <a:ea typeface="Inter"/>
              </a:rPr>
              <a:t>;</a:t>
            </a:r>
          </a:p>
          <a:p>
            <a:r>
              <a:rPr lang="en-US" dirty="0" smtClean="0">
                <a:latin typeface="Inter"/>
                <a:ea typeface="Inter"/>
              </a:rPr>
              <a:t>                       import </a:t>
            </a:r>
            <a:r>
              <a:rPr lang="en-US" dirty="0" smtClean="0">
                <a:latin typeface="Inter"/>
                <a:ea typeface="Inter"/>
              </a:rPr>
              <a:t>androidx.appcompat.app.AppCompatActivity</a:t>
            </a:r>
            <a:r>
              <a:rPr lang="en-US" dirty="0" smtClean="0">
                <a:latin typeface="Inter"/>
                <a:ea typeface="Inter"/>
              </a:rPr>
              <a:t>;</a:t>
            </a:r>
          </a:p>
          <a:p>
            <a:r>
              <a:rPr lang="en-US" dirty="0" smtClean="0">
                <a:latin typeface="Inter"/>
                <a:ea typeface="Inter"/>
              </a:rPr>
              <a:t>                public </a:t>
            </a:r>
            <a:r>
              <a:rPr lang="en-US" dirty="0" smtClean="0">
                <a:latin typeface="Inter"/>
                <a:ea typeface="Inter"/>
              </a:rPr>
              <a:t>class MainActivity extends AppCompatActivity </a:t>
            </a:r>
            <a:endParaRPr lang="en-US" dirty="0" smtClean="0">
              <a:latin typeface="Inter"/>
              <a:ea typeface="Inter"/>
            </a:endParaRPr>
          </a:p>
          <a:p>
            <a:r>
              <a:rPr lang="en-US" dirty="0" smtClean="0">
                <a:latin typeface="Inter"/>
                <a:ea typeface="Inter"/>
              </a:rPr>
              <a:t>                {     </a:t>
            </a:r>
          </a:p>
          <a:p>
            <a:r>
              <a:rPr lang="en-US" dirty="0" smtClean="0">
                <a:latin typeface="Inter"/>
                <a:ea typeface="Inter"/>
              </a:rPr>
              <a:t>        @</a:t>
            </a:r>
            <a:r>
              <a:rPr lang="en-US" dirty="0" smtClean="0">
                <a:latin typeface="Inter"/>
                <a:ea typeface="Inter"/>
              </a:rPr>
              <a:t>Override  </a:t>
            </a:r>
            <a:r>
              <a:rPr lang="en-US" dirty="0" smtClean="0">
                <a:latin typeface="Inter"/>
                <a:ea typeface="Inter"/>
              </a:rPr>
              <a:t>protected </a:t>
            </a:r>
            <a:r>
              <a:rPr lang="en-US" dirty="0" smtClean="0">
                <a:latin typeface="Inter"/>
                <a:ea typeface="Inter"/>
              </a:rPr>
              <a:t>void onCreate(Bundle savedInstanceState</a:t>
            </a:r>
            <a:r>
              <a:rPr lang="en-US" dirty="0" smtClean="0">
                <a:latin typeface="Inter"/>
                <a:ea typeface="Inter"/>
              </a:rPr>
              <a:t>)</a:t>
            </a:r>
          </a:p>
          <a:p>
            <a:r>
              <a:rPr lang="en-US" dirty="0" smtClean="0">
                <a:latin typeface="Inter"/>
                <a:ea typeface="Inter"/>
              </a:rPr>
              <a:t>                {        </a:t>
            </a:r>
          </a:p>
          <a:p>
            <a:r>
              <a:rPr lang="en-US" dirty="0" smtClean="0">
                <a:latin typeface="Inter"/>
                <a:ea typeface="Inter"/>
              </a:rPr>
              <a:t>                      super.onCreate(savedInstanceState);</a:t>
            </a:r>
          </a:p>
          <a:p>
            <a:r>
              <a:rPr lang="en-US" dirty="0" smtClean="0">
                <a:latin typeface="Inter"/>
                <a:ea typeface="Inter"/>
              </a:rPr>
              <a:t> </a:t>
            </a:r>
            <a:r>
              <a:rPr lang="en-US" dirty="0" smtClean="0">
                <a:latin typeface="Inter"/>
                <a:ea typeface="Inter"/>
              </a:rPr>
              <a:t>                     setContentView(</a:t>
            </a:r>
            <a:r>
              <a:rPr lang="en-US" dirty="0" err="1" smtClean="0">
                <a:latin typeface="Inter"/>
                <a:ea typeface="Inter"/>
              </a:rPr>
              <a:t>R.layout.activity_main</a:t>
            </a:r>
            <a:r>
              <a:rPr lang="en-US" dirty="0" smtClean="0">
                <a:latin typeface="Inter"/>
                <a:ea typeface="Inter"/>
              </a:rPr>
              <a:t>);</a:t>
            </a:r>
          </a:p>
          <a:p>
            <a:r>
              <a:rPr lang="en-US" dirty="0" smtClean="0">
                <a:latin typeface="Inter"/>
                <a:ea typeface="Inter"/>
              </a:rPr>
              <a:t> </a:t>
            </a:r>
            <a:r>
              <a:rPr lang="en-US" dirty="0" smtClean="0">
                <a:latin typeface="Inter"/>
                <a:ea typeface="Inter"/>
              </a:rPr>
              <a:t>                }} </a:t>
            </a:r>
          </a:p>
          <a:p>
            <a:r>
              <a:rPr lang="en-US" dirty="0" smtClean="0">
                <a:latin typeface="Inter"/>
                <a:ea typeface="Inter"/>
              </a:rPr>
              <a:t> </a:t>
            </a:r>
            <a:r>
              <a:rPr lang="en-US" dirty="0" smtClean="0">
                <a:latin typeface="Inter"/>
                <a:ea typeface="Inter"/>
              </a:rPr>
              <a:t>                                                                                                                                                 </a:t>
            </a:r>
            <a:endParaRPr lang="en-US" dirty="0">
              <a:latin typeface="Inter"/>
              <a:ea typeface="Inter"/>
            </a:endParaRPr>
          </a:p>
        </p:txBody>
      </p:sp>
      <p:sp>
        <p:nvSpPr>
          <p:cNvPr id="26627" name="AutoShape 3" descr="blob:https://web.whatsapp.com/41fff803-0371-4e6c-96c6-293a2d712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9" name="AutoShape 5" descr="blob:https://web.whatsapp.com/41fff803-0371-4e6c-96c6-293a2d712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6631" name="Picture 7" descr="C:\Users\D.JAYA PAL\Downloads\WhatsApp Image 2024-11-10 at 3.49.39 PM.jpeg"/>
          <p:cNvPicPr>
            <a:picLocks noChangeAspect="1" noChangeArrowheads="1"/>
          </p:cNvPicPr>
          <p:nvPr/>
        </p:nvPicPr>
        <p:blipFill>
          <a:blip r:embed="rId3"/>
          <a:srcRect/>
          <a:stretch>
            <a:fillRect/>
          </a:stretch>
        </p:blipFill>
        <p:spPr bwMode="auto">
          <a:xfrm>
            <a:off x="0" y="2150981"/>
            <a:ext cx="2479585" cy="607862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80190" y="1350169"/>
            <a:ext cx="5954197" cy="744260"/>
          </a:xfrm>
          <a:prstGeom prst="rect">
            <a:avLst/>
          </a:prstGeom>
          <a:noFill/>
        </p:spPr>
        <p:txBody>
          <a:bodyPr wrap="none" rtlCol="0" anchor="t"/>
          <a:lstStyle/>
          <a:p>
            <a:pPr marL="0" indent="0">
              <a:lnSpc>
                <a:spcPts val="5860"/>
              </a:lnSpc>
              <a:buNone/>
            </a:pPr>
            <a:r>
              <a:rPr lang="en-US" sz="4690" b="1" dirty="0">
                <a:solidFill>
                  <a:srgbClr val="000000"/>
                </a:solidFill>
                <a:latin typeface="Petrona" pitchFamily="34" charset="0"/>
                <a:ea typeface="Petrona" pitchFamily="34" charset="-122"/>
                <a:cs typeface="Petrona" pitchFamily="34" charset="-120"/>
              </a:rPr>
              <a:t>User Interface</a:t>
            </a:r>
            <a:endParaRPr lang="en-US" sz="4690" dirty="0"/>
          </a:p>
        </p:txBody>
      </p:sp>
      <p:sp>
        <p:nvSpPr>
          <p:cNvPr id="6" name="Shape 2"/>
          <p:cNvSpPr/>
          <p:nvPr/>
        </p:nvSpPr>
        <p:spPr>
          <a:xfrm>
            <a:off x="6280190" y="2579251"/>
            <a:ext cx="510302" cy="510302"/>
          </a:xfrm>
          <a:prstGeom prst="roundRect">
            <a:avLst>
              <a:gd name="adj" fmla="val 18669"/>
            </a:avLst>
          </a:prstGeom>
          <a:solidFill>
            <a:srgbClr val="CCEEFF"/>
          </a:solidFill>
          <a:ln w="7620">
            <a:solidFill>
              <a:srgbClr val="B2D4E5"/>
            </a:solidFill>
            <a:prstDash val="solid"/>
          </a:ln>
        </p:spPr>
      </p:sp>
      <p:sp>
        <p:nvSpPr>
          <p:cNvPr id="7" name="Text 3"/>
          <p:cNvSpPr/>
          <p:nvPr/>
        </p:nvSpPr>
        <p:spPr>
          <a:xfrm>
            <a:off x="6458903" y="2655689"/>
            <a:ext cx="152876" cy="357307"/>
          </a:xfrm>
          <a:prstGeom prst="rect">
            <a:avLst/>
          </a:prstGeom>
          <a:noFill/>
        </p:spPr>
        <p:txBody>
          <a:bodyPr wrap="none" rtlCol="0" anchor="t"/>
          <a:lstStyle/>
          <a:p>
            <a:pPr marL="0" indent="0" algn="ctr">
              <a:lnSpc>
                <a:spcPts val="2815"/>
              </a:lnSpc>
              <a:buNone/>
            </a:pPr>
            <a:r>
              <a:rPr lang="en-US" sz="2815" b="1" dirty="0">
                <a:solidFill>
                  <a:srgbClr val="272525"/>
                </a:solidFill>
                <a:latin typeface="Petrona" pitchFamily="34" charset="0"/>
                <a:ea typeface="Petrona" pitchFamily="34" charset="-122"/>
                <a:cs typeface="Petrona" pitchFamily="34" charset="-120"/>
              </a:rPr>
              <a:t>1</a:t>
            </a:r>
            <a:endParaRPr lang="en-US" sz="2815" dirty="0"/>
          </a:p>
        </p:txBody>
      </p:sp>
      <p:sp>
        <p:nvSpPr>
          <p:cNvPr id="8" name="Text 4"/>
          <p:cNvSpPr/>
          <p:nvPr/>
        </p:nvSpPr>
        <p:spPr>
          <a:xfrm>
            <a:off x="7017306" y="2579251"/>
            <a:ext cx="2927747" cy="372070"/>
          </a:xfrm>
          <a:prstGeom prst="rect">
            <a:avLst/>
          </a:prstGeom>
          <a:noFill/>
        </p:spPr>
        <p:txBody>
          <a:bodyPr wrap="none" rtlCol="0" anchor="t"/>
          <a:lstStyle/>
          <a:p>
            <a:pPr marL="0" indent="0">
              <a:lnSpc>
                <a:spcPts val="2930"/>
              </a:lnSpc>
              <a:buNone/>
            </a:pPr>
            <a:r>
              <a:rPr lang="en-US" sz="2345" b="1" dirty="0">
                <a:solidFill>
                  <a:srgbClr val="272525"/>
                </a:solidFill>
                <a:latin typeface="Petrona" pitchFamily="34" charset="0"/>
                <a:ea typeface="Petrona" pitchFamily="34" charset="-122"/>
                <a:cs typeface="Petrona" pitchFamily="34" charset="-120"/>
              </a:rPr>
              <a:t>Clean and Intuitive</a:t>
            </a:r>
            <a:endParaRPr lang="en-US" sz="2345" dirty="0"/>
          </a:p>
        </p:txBody>
      </p:sp>
      <p:sp>
        <p:nvSpPr>
          <p:cNvPr id="9" name="Text 5"/>
          <p:cNvSpPr/>
          <p:nvPr/>
        </p:nvSpPr>
        <p:spPr>
          <a:xfrm>
            <a:off x="7017306" y="3087410"/>
            <a:ext cx="2927747" cy="1814513"/>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The user interface is designed to be seamless and unobtrusive, allowing you to focus on the  gameplay.</a:t>
            </a:r>
            <a:endParaRPr lang="en-US" sz="1785" dirty="0"/>
          </a:p>
        </p:txBody>
      </p:sp>
      <p:sp>
        <p:nvSpPr>
          <p:cNvPr id="10" name="Shape 6"/>
          <p:cNvSpPr/>
          <p:nvPr/>
        </p:nvSpPr>
        <p:spPr>
          <a:xfrm>
            <a:off x="10171867" y="2579251"/>
            <a:ext cx="510302" cy="510302"/>
          </a:xfrm>
          <a:prstGeom prst="roundRect">
            <a:avLst>
              <a:gd name="adj" fmla="val 18669"/>
            </a:avLst>
          </a:prstGeom>
          <a:solidFill>
            <a:srgbClr val="CCEEFF"/>
          </a:solidFill>
          <a:ln w="7620">
            <a:solidFill>
              <a:srgbClr val="B2D4E5"/>
            </a:solidFill>
            <a:prstDash val="solid"/>
          </a:ln>
        </p:spPr>
      </p:sp>
      <p:sp>
        <p:nvSpPr>
          <p:cNvPr id="11" name="Text 7"/>
          <p:cNvSpPr/>
          <p:nvPr/>
        </p:nvSpPr>
        <p:spPr>
          <a:xfrm>
            <a:off x="10325695" y="2655689"/>
            <a:ext cx="202525" cy="357307"/>
          </a:xfrm>
          <a:prstGeom prst="rect">
            <a:avLst/>
          </a:prstGeom>
          <a:noFill/>
        </p:spPr>
        <p:txBody>
          <a:bodyPr wrap="none" rtlCol="0" anchor="t"/>
          <a:lstStyle/>
          <a:p>
            <a:pPr marL="0" indent="0" algn="ctr">
              <a:lnSpc>
                <a:spcPts val="2815"/>
              </a:lnSpc>
              <a:buNone/>
            </a:pPr>
            <a:r>
              <a:rPr lang="en-US" sz="2815" b="1" dirty="0">
                <a:solidFill>
                  <a:srgbClr val="272525"/>
                </a:solidFill>
                <a:latin typeface="Petrona" pitchFamily="34" charset="0"/>
                <a:ea typeface="Petrona" pitchFamily="34" charset="-122"/>
                <a:cs typeface="Petrona" pitchFamily="34" charset="-120"/>
              </a:rPr>
              <a:t>2</a:t>
            </a:r>
            <a:endParaRPr lang="en-US" sz="2815" dirty="0"/>
          </a:p>
        </p:txBody>
      </p:sp>
      <p:sp>
        <p:nvSpPr>
          <p:cNvPr id="12" name="Text 8"/>
          <p:cNvSpPr/>
          <p:nvPr/>
        </p:nvSpPr>
        <p:spPr>
          <a:xfrm>
            <a:off x="10908983" y="2579251"/>
            <a:ext cx="2927747" cy="744141"/>
          </a:xfrm>
          <a:prstGeom prst="rect">
            <a:avLst/>
          </a:prstGeom>
          <a:noFill/>
        </p:spPr>
        <p:txBody>
          <a:bodyPr wrap="square" rtlCol="0" anchor="t"/>
          <a:lstStyle/>
          <a:p>
            <a:pPr marL="0" indent="0">
              <a:lnSpc>
                <a:spcPts val="2930"/>
              </a:lnSpc>
              <a:buNone/>
            </a:pPr>
            <a:r>
              <a:rPr lang="en-US" sz="2345" b="1" dirty="0">
                <a:solidFill>
                  <a:srgbClr val="272525"/>
                </a:solidFill>
                <a:latin typeface="Petrona" pitchFamily="34" charset="0"/>
                <a:ea typeface="Petrona" pitchFamily="34" charset="-122"/>
                <a:cs typeface="Petrona" pitchFamily="34" charset="-120"/>
              </a:rPr>
              <a:t>Customizable Options</a:t>
            </a:r>
            <a:endParaRPr lang="en-US" sz="2345" dirty="0"/>
          </a:p>
        </p:txBody>
      </p:sp>
      <p:sp>
        <p:nvSpPr>
          <p:cNvPr id="13" name="Text 9"/>
          <p:cNvSpPr/>
          <p:nvPr/>
        </p:nvSpPr>
        <p:spPr>
          <a:xfrm>
            <a:off x="10908983" y="3459480"/>
            <a:ext cx="2927747" cy="1814513"/>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Tailor the game to your preferences, adjusting settings such as camera angles, control sensitivity, and more.</a:t>
            </a:r>
            <a:endParaRPr lang="en-US" sz="1785" dirty="0"/>
          </a:p>
        </p:txBody>
      </p:sp>
      <p:sp>
        <p:nvSpPr>
          <p:cNvPr id="14" name="Shape 10"/>
          <p:cNvSpPr/>
          <p:nvPr/>
        </p:nvSpPr>
        <p:spPr>
          <a:xfrm>
            <a:off x="6280190" y="5755958"/>
            <a:ext cx="510302" cy="510302"/>
          </a:xfrm>
          <a:prstGeom prst="roundRect">
            <a:avLst>
              <a:gd name="adj" fmla="val 18669"/>
            </a:avLst>
          </a:prstGeom>
          <a:solidFill>
            <a:srgbClr val="CCEEFF"/>
          </a:solidFill>
          <a:ln w="7620">
            <a:solidFill>
              <a:srgbClr val="B2D4E5"/>
            </a:solidFill>
            <a:prstDash val="solid"/>
          </a:ln>
        </p:spPr>
      </p:sp>
      <p:sp>
        <p:nvSpPr>
          <p:cNvPr id="15" name="Text 11"/>
          <p:cNvSpPr/>
          <p:nvPr/>
        </p:nvSpPr>
        <p:spPr>
          <a:xfrm>
            <a:off x="6434257" y="5832396"/>
            <a:ext cx="202168" cy="357307"/>
          </a:xfrm>
          <a:prstGeom prst="rect">
            <a:avLst/>
          </a:prstGeom>
          <a:noFill/>
        </p:spPr>
        <p:txBody>
          <a:bodyPr wrap="none" rtlCol="0" anchor="t"/>
          <a:lstStyle/>
          <a:p>
            <a:pPr marL="0" indent="0" algn="ctr">
              <a:lnSpc>
                <a:spcPts val="2815"/>
              </a:lnSpc>
              <a:buNone/>
            </a:pPr>
            <a:r>
              <a:rPr lang="en-US" sz="2815" b="1" dirty="0">
                <a:solidFill>
                  <a:srgbClr val="272525"/>
                </a:solidFill>
                <a:latin typeface="Petrona" pitchFamily="34" charset="0"/>
                <a:ea typeface="Petrona" pitchFamily="34" charset="-122"/>
                <a:cs typeface="Petrona" pitchFamily="34" charset="-120"/>
              </a:rPr>
              <a:t>3</a:t>
            </a:r>
            <a:endParaRPr lang="en-US" sz="2815" dirty="0"/>
          </a:p>
        </p:txBody>
      </p:sp>
      <p:sp>
        <p:nvSpPr>
          <p:cNvPr id="16" name="Text 12"/>
          <p:cNvSpPr/>
          <p:nvPr/>
        </p:nvSpPr>
        <p:spPr>
          <a:xfrm>
            <a:off x="7017306" y="5755958"/>
            <a:ext cx="2977039" cy="372070"/>
          </a:xfrm>
          <a:prstGeom prst="rect">
            <a:avLst/>
          </a:prstGeom>
          <a:noFill/>
        </p:spPr>
        <p:txBody>
          <a:bodyPr wrap="none" rtlCol="0" anchor="t"/>
          <a:lstStyle/>
          <a:p>
            <a:pPr marL="0" indent="0">
              <a:lnSpc>
                <a:spcPts val="2930"/>
              </a:lnSpc>
              <a:buNone/>
            </a:pPr>
            <a:r>
              <a:rPr lang="en-US" sz="2345" b="1" dirty="0">
                <a:solidFill>
                  <a:srgbClr val="272525"/>
                </a:solidFill>
                <a:latin typeface="Petrona" pitchFamily="34" charset="0"/>
                <a:ea typeface="Petrona" pitchFamily="34" charset="-122"/>
                <a:cs typeface="Petrona" pitchFamily="34" charset="-120"/>
              </a:rPr>
              <a:t>In-Game Guidance</a:t>
            </a:r>
            <a:endParaRPr lang="en-US" sz="2345" dirty="0"/>
          </a:p>
        </p:txBody>
      </p:sp>
      <p:sp>
        <p:nvSpPr>
          <p:cNvPr id="17" name="Text 13"/>
          <p:cNvSpPr/>
          <p:nvPr/>
        </p:nvSpPr>
        <p:spPr>
          <a:xfrm>
            <a:off x="7017306" y="6264116"/>
            <a:ext cx="6819305" cy="725805"/>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 On-screen prompts and tutorials ensure a smooth, guided experience for both new and experienced players.</a:t>
            </a:r>
            <a:endParaRPr lang="en-US" sz="178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80190" y="632936"/>
            <a:ext cx="5954197" cy="744260"/>
          </a:xfrm>
          <a:prstGeom prst="rect">
            <a:avLst/>
          </a:prstGeom>
          <a:noFill/>
        </p:spPr>
        <p:txBody>
          <a:bodyPr wrap="none" rtlCol="0" anchor="t"/>
          <a:lstStyle/>
          <a:p>
            <a:pPr marL="0" indent="0">
              <a:lnSpc>
                <a:spcPts val="5860"/>
              </a:lnSpc>
              <a:buNone/>
            </a:pPr>
            <a:r>
              <a:rPr lang="en-US" sz="4690" b="1" dirty="0">
                <a:solidFill>
                  <a:srgbClr val="000000"/>
                </a:solidFill>
                <a:latin typeface="Petrona" pitchFamily="34" charset="0"/>
                <a:ea typeface="Petrona" pitchFamily="34" charset="-122"/>
                <a:cs typeface="Petrona" pitchFamily="34" charset="-120"/>
              </a:rPr>
              <a:t>Game Overview</a:t>
            </a:r>
            <a:endParaRPr lang="en-US" sz="4690" dirty="0"/>
          </a:p>
        </p:txBody>
      </p:sp>
      <p:sp>
        <p:nvSpPr>
          <p:cNvPr id="6" name="Shape 2"/>
          <p:cNvSpPr/>
          <p:nvPr/>
        </p:nvSpPr>
        <p:spPr>
          <a:xfrm>
            <a:off x="6605111" y="1717358"/>
            <a:ext cx="30480" cy="5879306"/>
          </a:xfrm>
          <a:prstGeom prst="roundRect">
            <a:avLst>
              <a:gd name="adj" fmla="val 312558"/>
            </a:avLst>
          </a:prstGeom>
          <a:solidFill>
            <a:srgbClr val="B2D4E5"/>
          </a:solidFill>
        </p:spPr>
      </p:sp>
      <p:sp>
        <p:nvSpPr>
          <p:cNvPr id="7" name="Shape 3"/>
          <p:cNvSpPr/>
          <p:nvPr/>
        </p:nvSpPr>
        <p:spPr>
          <a:xfrm>
            <a:off x="6845022" y="2212419"/>
            <a:ext cx="793790" cy="30480"/>
          </a:xfrm>
          <a:prstGeom prst="roundRect">
            <a:avLst>
              <a:gd name="adj" fmla="val 312558"/>
            </a:avLst>
          </a:prstGeom>
          <a:solidFill>
            <a:srgbClr val="B2D4E5"/>
          </a:solidFill>
        </p:spPr>
      </p:sp>
      <p:sp>
        <p:nvSpPr>
          <p:cNvPr id="8" name="Shape 4"/>
          <p:cNvSpPr/>
          <p:nvPr/>
        </p:nvSpPr>
        <p:spPr>
          <a:xfrm>
            <a:off x="6365200" y="1972508"/>
            <a:ext cx="510302" cy="510302"/>
          </a:xfrm>
          <a:prstGeom prst="roundRect">
            <a:avLst>
              <a:gd name="adj" fmla="val 18669"/>
            </a:avLst>
          </a:prstGeom>
          <a:solidFill>
            <a:srgbClr val="CCEEFF"/>
          </a:solidFill>
          <a:ln w="7620">
            <a:solidFill>
              <a:srgbClr val="B2D4E5"/>
            </a:solidFill>
            <a:prstDash val="solid"/>
          </a:ln>
        </p:spPr>
      </p:sp>
      <p:sp>
        <p:nvSpPr>
          <p:cNvPr id="9" name="Text 5"/>
          <p:cNvSpPr/>
          <p:nvPr/>
        </p:nvSpPr>
        <p:spPr>
          <a:xfrm>
            <a:off x="6543913" y="2048947"/>
            <a:ext cx="152876" cy="357307"/>
          </a:xfrm>
          <a:prstGeom prst="rect">
            <a:avLst/>
          </a:prstGeom>
          <a:noFill/>
        </p:spPr>
        <p:txBody>
          <a:bodyPr wrap="none" rtlCol="0" anchor="t"/>
          <a:lstStyle/>
          <a:p>
            <a:pPr marL="0" indent="0" algn="ctr">
              <a:lnSpc>
                <a:spcPts val="2815"/>
              </a:lnSpc>
              <a:buNone/>
            </a:pPr>
            <a:r>
              <a:rPr lang="en-US" sz="2815" b="1" dirty="0">
                <a:solidFill>
                  <a:srgbClr val="272525"/>
                </a:solidFill>
                <a:latin typeface="Petrona" pitchFamily="34" charset="0"/>
                <a:ea typeface="Petrona" pitchFamily="34" charset="-122"/>
                <a:cs typeface="Petrona" pitchFamily="34" charset="-120"/>
              </a:rPr>
              <a:t>1</a:t>
            </a:r>
            <a:endParaRPr lang="en-US" sz="2815" dirty="0"/>
          </a:p>
        </p:txBody>
      </p:sp>
      <p:sp>
        <p:nvSpPr>
          <p:cNvPr id="10" name="Text 6"/>
          <p:cNvSpPr/>
          <p:nvPr/>
        </p:nvSpPr>
        <p:spPr>
          <a:xfrm>
            <a:off x="7867888" y="1944172"/>
            <a:ext cx="2977039" cy="372070"/>
          </a:xfrm>
          <a:prstGeom prst="rect">
            <a:avLst/>
          </a:prstGeom>
          <a:noFill/>
        </p:spPr>
        <p:txBody>
          <a:bodyPr wrap="none" rtlCol="0" anchor="t"/>
          <a:lstStyle/>
          <a:p>
            <a:pPr marL="0" indent="0" algn="l">
              <a:lnSpc>
                <a:spcPts val="2930"/>
              </a:lnSpc>
              <a:buNone/>
            </a:pPr>
            <a:r>
              <a:rPr lang="en-US" sz="2345" b="1" dirty="0">
                <a:solidFill>
                  <a:srgbClr val="272525"/>
                </a:solidFill>
                <a:latin typeface="Petrona" pitchFamily="34" charset="0"/>
                <a:ea typeface="Petrona" pitchFamily="34" charset="-122"/>
                <a:cs typeface="Petrona" pitchFamily="34" charset="-120"/>
              </a:rPr>
              <a:t>Explore</a:t>
            </a:r>
            <a:endParaRPr lang="en-US" sz="2345" dirty="0"/>
          </a:p>
        </p:txBody>
      </p:sp>
      <p:sp>
        <p:nvSpPr>
          <p:cNvPr id="11" name="Text 7"/>
          <p:cNvSpPr/>
          <p:nvPr/>
        </p:nvSpPr>
        <p:spPr>
          <a:xfrm>
            <a:off x="7867888" y="2452330"/>
            <a:ext cx="5968722" cy="1088708"/>
          </a:xfrm>
          <a:prstGeom prst="rect">
            <a:avLst/>
          </a:prstGeom>
          <a:noFill/>
        </p:spPr>
        <p:txBody>
          <a:bodyPr wrap="square" rtlCol="0" anchor="t"/>
          <a:lstStyle/>
          <a:p>
            <a:pPr marL="0" indent="0" algn="l">
              <a:lnSpc>
                <a:spcPts val="2860"/>
              </a:lnSpc>
              <a:buNone/>
            </a:pPr>
            <a:r>
              <a:rPr lang="en-US" sz="1785" dirty="0">
                <a:solidFill>
                  <a:srgbClr val="272525"/>
                </a:solidFill>
                <a:latin typeface="Inter" pitchFamily="34" charset="0"/>
                <a:ea typeface="Inter" pitchFamily="34" charset="-122"/>
                <a:cs typeface="Inter" pitchFamily="34" charset="-120"/>
              </a:rPr>
              <a:t>Soar through vibrant, fantastical landscapes, game design through the game developement </a:t>
            </a:r>
            <a:endParaRPr lang="en-US" sz="1785" dirty="0"/>
          </a:p>
        </p:txBody>
      </p:sp>
      <p:sp>
        <p:nvSpPr>
          <p:cNvPr id="12" name="Shape 8"/>
          <p:cNvSpPr/>
          <p:nvPr/>
        </p:nvSpPr>
        <p:spPr>
          <a:xfrm>
            <a:off x="6845022" y="4489728"/>
            <a:ext cx="793790" cy="30480"/>
          </a:xfrm>
          <a:prstGeom prst="roundRect">
            <a:avLst>
              <a:gd name="adj" fmla="val 312558"/>
            </a:avLst>
          </a:prstGeom>
          <a:solidFill>
            <a:srgbClr val="B2D4E5"/>
          </a:solidFill>
        </p:spPr>
      </p:sp>
      <p:sp>
        <p:nvSpPr>
          <p:cNvPr id="13" name="Shape 9"/>
          <p:cNvSpPr/>
          <p:nvPr/>
        </p:nvSpPr>
        <p:spPr>
          <a:xfrm>
            <a:off x="6365200" y="4249817"/>
            <a:ext cx="510302" cy="510302"/>
          </a:xfrm>
          <a:prstGeom prst="roundRect">
            <a:avLst>
              <a:gd name="adj" fmla="val 18669"/>
            </a:avLst>
          </a:prstGeom>
          <a:solidFill>
            <a:srgbClr val="CCEEFF"/>
          </a:solidFill>
          <a:ln w="7620">
            <a:solidFill>
              <a:srgbClr val="B2D4E5"/>
            </a:solidFill>
            <a:prstDash val="solid"/>
          </a:ln>
        </p:spPr>
      </p:sp>
      <p:sp>
        <p:nvSpPr>
          <p:cNvPr id="14" name="Text 10"/>
          <p:cNvSpPr/>
          <p:nvPr/>
        </p:nvSpPr>
        <p:spPr>
          <a:xfrm>
            <a:off x="6519029" y="4326255"/>
            <a:ext cx="202525" cy="357307"/>
          </a:xfrm>
          <a:prstGeom prst="rect">
            <a:avLst/>
          </a:prstGeom>
          <a:noFill/>
        </p:spPr>
        <p:txBody>
          <a:bodyPr wrap="none" rtlCol="0" anchor="t"/>
          <a:lstStyle/>
          <a:p>
            <a:pPr marL="0" indent="0" algn="ctr">
              <a:lnSpc>
                <a:spcPts val="2815"/>
              </a:lnSpc>
              <a:buNone/>
            </a:pPr>
            <a:r>
              <a:rPr lang="en-US" sz="2815" b="1" dirty="0">
                <a:solidFill>
                  <a:srgbClr val="272525"/>
                </a:solidFill>
                <a:latin typeface="Petrona" pitchFamily="34" charset="0"/>
                <a:ea typeface="Petrona" pitchFamily="34" charset="-122"/>
                <a:cs typeface="Petrona" pitchFamily="34" charset="-120"/>
              </a:rPr>
              <a:t>2</a:t>
            </a:r>
            <a:endParaRPr lang="en-US" sz="2815" dirty="0"/>
          </a:p>
        </p:txBody>
      </p:sp>
      <p:sp>
        <p:nvSpPr>
          <p:cNvPr id="15" name="Text 11"/>
          <p:cNvSpPr/>
          <p:nvPr/>
        </p:nvSpPr>
        <p:spPr>
          <a:xfrm>
            <a:off x="7867888" y="4221480"/>
            <a:ext cx="2977039" cy="372070"/>
          </a:xfrm>
          <a:prstGeom prst="rect">
            <a:avLst/>
          </a:prstGeom>
          <a:noFill/>
        </p:spPr>
        <p:txBody>
          <a:bodyPr wrap="none" rtlCol="0" anchor="t"/>
          <a:lstStyle/>
          <a:p>
            <a:pPr marL="0" indent="0" algn="l">
              <a:lnSpc>
                <a:spcPts val="2930"/>
              </a:lnSpc>
              <a:buNone/>
            </a:pPr>
            <a:r>
              <a:rPr lang="en-US" sz="2345" b="1" dirty="0">
                <a:solidFill>
                  <a:srgbClr val="272525"/>
                </a:solidFill>
                <a:latin typeface="Petrona" pitchFamily="34" charset="0"/>
                <a:ea typeface="Petrona" pitchFamily="34" charset="-122"/>
                <a:cs typeface="Petrona" pitchFamily="34" charset="-120"/>
              </a:rPr>
              <a:t>Challenge</a:t>
            </a:r>
            <a:endParaRPr lang="en-US" sz="2345" dirty="0"/>
          </a:p>
        </p:txBody>
      </p:sp>
      <p:sp>
        <p:nvSpPr>
          <p:cNvPr id="16" name="Text 12"/>
          <p:cNvSpPr/>
          <p:nvPr/>
        </p:nvSpPr>
        <p:spPr>
          <a:xfrm>
            <a:off x="7867888" y="4729639"/>
            <a:ext cx="5968722" cy="725805"/>
          </a:xfrm>
          <a:prstGeom prst="rect">
            <a:avLst/>
          </a:prstGeom>
          <a:noFill/>
        </p:spPr>
        <p:txBody>
          <a:bodyPr wrap="square" rtlCol="0" anchor="t"/>
          <a:lstStyle/>
          <a:p>
            <a:pPr marL="0" indent="0" algn="l">
              <a:lnSpc>
                <a:spcPts val="2860"/>
              </a:lnSpc>
              <a:buNone/>
            </a:pPr>
            <a:r>
              <a:rPr lang="en-US" sz="1785" dirty="0">
                <a:solidFill>
                  <a:srgbClr val="272525"/>
                </a:solidFill>
                <a:latin typeface="Inter" pitchFamily="34" charset="0"/>
                <a:ea typeface="Inter" pitchFamily="34" charset="-122"/>
                <a:cs typeface="Inter" pitchFamily="34" charset="-120"/>
              </a:rPr>
              <a:t>It challenge the player to kill the birds which has been coming at the flight boy . So, that the flight boy must kill the birds.</a:t>
            </a:r>
            <a:endParaRPr lang="en-US" sz="1785" dirty="0"/>
          </a:p>
        </p:txBody>
      </p:sp>
      <p:sp>
        <p:nvSpPr>
          <p:cNvPr id="17" name="Shape 13"/>
          <p:cNvSpPr/>
          <p:nvPr/>
        </p:nvSpPr>
        <p:spPr>
          <a:xfrm>
            <a:off x="6845022" y="6404134"/>
            <a:ext cx="793790" cy="30480"/>
          </a:xfrm>
          <a:prstGeom prst="roundRect">
            <a:avLst>
              <a:gd name="adj" fmla="val 312558"/>
            </a:avLst>
          </a:prstGeom>
          <a:solidFill>
            <a:srgbClr val="B2D4E5"/>
          </a:solidFill>
        </p:spPr>
      </p:sp>
      <p:sp>
        <p:nvSpPr>
          <p:cNvPr id="18" name="Shape 14"/>
          <p:cNvSpPr/>
          <p:nvPr/>
        </p:nvSpPr>
        <p:spPr>
          <a:xfrm>
            <a:off x="6365200" y="6164223"/>
            <a:ext cx="510302" cy="510302"/>
          </a:xfrm>
          <a:prstGeom prst="roundRect">
            <a:avLst>
              <a:gd name="adj" fmla="val 18669"/>
            </a:avLst>
          </a:prstGeom>
          <a:solidFill>
            <a:srgbClr val="CCEEFF"/>
          </a:solidFill>
          <a:ln w="7620">
            <a:solidFill>
              <a:srgbClr val="B2D4E5"/>
            </a:solidFill>
            <a:prstDash val="solid"/>
          </a:ln>
        </p:spPr>
      </p:sp>
      <p:sp>
        <p:nvSpPr>
          <p:cNvPr id="19" name="Text 15"/>
          <p:cNvSpPr/>
          <p:nvPr/>
        </p:nvSpPr>
        <p:spPr>
          <a:xfrm>
            <a:off x="6519267" y="6240661"/>
            <a:ext cx="202168" cy="357307"/>
          </a:xfrm>
          <a:prstGeom prst="rect">
            <a:avLst/>
          </a:prstGeom>
          <a:noFill/>
        </p:spPr>
        <p:txBody>
          <a:bodyPr wrap="none" rtlCol="0" anchor="t"/>
          <a:lstStyle/>
          <a:p>
            <a:pPr marL="0" indent="0" algn="ctr">
              <a:lnSpc>
                <a:spcPts val="2815"/>
              </a:lnSpc>
              <a:buNone/>
            </a:pPr>
            <a:r>
              <a:rPr lang="en-US" sz="2815" b="1" dirty="0">
                <a:solidFill>
                  <a:srgbClr val="272525"/>
                </a:solidFill>
                <a:latin typeface="Petrona" pitchFamily="34" charset="0"/>
                <a:ea typeface="Petrona" pitchFamily="34" charset="-122"/>
                <a:cs typeface="Petrona" pitchFamily="34" charset="-120"/>
              </a:rPr>
              <a:t>3</a:t>
            </a:r>
            <a:endParaRPr lang="en-US" sz="2815" dirty="0"/>
          </a:p>
        </p:txBody>
      </p:sp>
      <p:sp>
        <p:nvSpPr>
          <p:cNvPr id="20" name="Text 16"/>
          <p:cNvSpPr/>
          <p:nvPr/>
        </p:nvSpPr>
        <p:spPr>
          <a:xfrm>
            <a:off x="7867888" y="6135886"/>
            <a:ext cx="2977039" cy="372070"/>
          </a:xfrm>
          <a:prstGeom prst="rect">
            <a:avLst/>
          </a:prstGeom>
          <a:noFill/>
        </p:spPr>
        <p:txBody>
          <a:bodyPr wrap="none" rtlCol="0" anchor="t"/>
          <a:lstStyle/>
          <a:p>
            <a:pPr marL="0" indent="0" algn="l">
              <a:lnSpc>
                <a:spcPts val="2930"/>
              </a:lnSpc>
              <a:buNone/>
            </a:pPr>
            <a:r>
              <a:rPr lang="en-US" sz="2345" b="1" dirty="0">
                <a:solidFill>
                  <a:srgbClr val="272525"/>
                </a:solidFill>
                <a:latin typeface="Petrona" pitchFamily="34" charset="0"/>
                <a:ea typeface="Petrona" pitchFamily="34" charset="-122"/>
                <a:cs typeface="Petrona" pitchFamily="34" charset="-120"/>
              </a:rPr>
              <a:t>Game view</a:t>
            </a:r>
            <a:endParaRPr lang="en-US" sz="2345" dirty="0"/>
          </a:p>
        </p:txBody>
      </p:sp>
      <p:sp>
        <p:nvSpPr>
          <p:cNvPr id="21" name="Text 17"/>
          <p:cNvSpPr/>
          <p:nvPr/>
        </p:nvSpPr>
        <p:spPr>
          <a:xfrm>
            <a:off x="7867888" y="6644045"/>
            <a:ext cx="5968722" cy="725805"/>
          </a:xfrm>
          <a:prstGeom prst="rect">
            <a:avLst/>
          </a:prstGeom>
          <a:noFill/>
        </p:spPr>
        <p:txBody>
          <a:bodyPr wrap="square" rtlCol="0" anchor="t"/>
          <a:lstStyle/>
          <a:p>
            <a:pPr marL="0" indent="0" algn="l">
              <a:lnSpc>
                <a:spcPts val="2860"/>
              </a:lnSpc>
              <a:buNone/>
            </a:pPr>
            <a:r>
              <a:rPr lang="en-US" sz="1785" dirty="0">
                <a:solidFill>
                  <a:srgbClr val="272525"/>
                </a:solidFill>
                <a:latin typeface="Inter" pitchFamily="34" charset="0"/>
                <a:ea typeface="Inter" pitchFamily="34" charset="-122"/>
                <a:cs typeface="Inter" pitchFamily="34" charset="-120"/>
              </a:rPr>
              <a:t>In this game view ,it contains all background , birds, sound effects, flight,and like this some features obtain in this game.</a:t>
            </a:r>
            <a:endParaRPr lang="en-US" sz="178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791647" y="621983"/>
            <a:ext cx="5937647" cy="742117"/>
          </a:xfrm>
          <a:prstGeom prst="rect">
            <a:avLst/>
          </a:prstGeom>
          <a:noFill/>
        </p:spPr>
        <p:txBody>
          <a:bodyPr wrap="none" rtlCol="0" anchor="t"/>
          <a:lstStyle/>
          <a:p>
            <a:pPr marL="0" indent="0">
              <a:lnSpc>
                <a:spcPts val="5845"/>
              </a:lnSpc>
              <a:buNone/>
            </a:pPr>
            <a:r>
              <a:rPr lang="en-US" sz="4675" b="1" dirty="0">
                <a:solidFill>
                  <a:srgbClr val="000000"/>
                </a:solidFill>
                <a:latin typeface="Petrona" pitchFamily="34" charset="0"/>
                <a:ea typeface="Petrona" pitchFamily="34" charset="-122"/>
                <a:cs typeface="Petrona" pitchFamily="34" charset="-120"/>
              </a:rPr>
              <a:t>Graphics and Design</a:t>
            </a:r>
            <a:endParaRPr lang="en-US" sz="4675" dirty="0"/>
          </a:p>
        </p:txBody>
      </p:sp>
      <p:sp>
        <p:nvSpPr>
          <p:cNvPr id="6" name="Text 2"/>
          <p:cNvSpPr/>
          <p:nvPr/>
        </p:nvSpPr>
        <p:spPr>
          <a:xfrm>
            <a:off x="791647" y="6025991"/>
            <a:ext cx="3129201" cy="371118"/>
          </a:xfrm>
          <a:prstGeom prst="rect">
            <a:avLst/>
          </a:prstGeom>
          <a:noFill/>
        </p:spPr>
        <p:txBody>
          <a:bodyPr wrap="none" rtlCol="0" anchor="t"/>
          <a:lstStyle/>
          <a:p>
            <a:pPr marL="0" indent="0" algn="l">
              <a:lnSpc>
                <a:spcPts val="2920"/>
              </a:lnSpc>
              <a:buNone/>
            </a:pPr>
            <a:r>
              <a:rPr lang="en-US" sz="2340" b="1" dirty="0">
                <a:solidFill>
                  <a:srgbClr val="272525"/>
                </a:solidFill>
                <a:latin typeface="Petrona" pitchFamily="34" charset="0"/>
                <a:ea typeface="Petrona" pitchFamily="34" charset="-122"/>
                <a:cs typeface="Petrona" pitchFamily="34" charset="-120"/>
              </a:rPr>
              <a:t>Captivating Characters</a:t>
            </a:r>
            <a:endParaRPr lang="en-US" sz="2340" dirty="0"/>
          </a:p>
        </p:txBody>
      </p:sp>
      <p:sp>
        <p:nvSpPr>
          <p:cNvPr id="7" name="Text 3"/>
          <p:cNvSpPr/>
          <p:nvPr/>
        </p:nvSpPr>
        <p:spPr>
          <a:xfrm>
            <a:off x="791647" y="6532721"/>
            <a:ext cx="6353889" cy="1085850"/>
          </a:xfrm>
          <a:prstGeom prst="rect">
            <a:avLst/>
          </a:prstGeom>
          <a:noFill/>
        </p:spPr>
        <p:txBody>
          <a:bodyPr wrap="square" rtlCol="0" anchor="t"/>
          <a:lstStyle/>
          <a:p>
            <a:pPr marL="0" indent="0" algn="l">
              <a:lnSpc>
                <a:spcPts val="2850"/>
              </a:lnSpc>
              <a:buNone/>
            </a:pPr>
            <a:r>
              <a:rPr lang="en-US" sz="1780" dirty="0">
                <a:solidFill>
                  <a:srgbClr val="272525"/>
                </a:solidFill>
                <a:latin typeface="Inter" pitchFamily="34" charset="0"/>
                <a:ea typeface="Inter" pitchFamily="34" charset="-122"/>
                <a:cs typeface="Inter" pitchFamily="34" charset="-120"/>
              </a:rPr>
              <a:t>The main protagonist, a young boy with whimsical, ethereal wings, is brought to life through exquisite 2D modeling and animation.</a:t>
            </a:r>
            <a:endParaRPr lang="en-US" sz="1780" dirty="0"/>
          </a:p>
        </p:txBody>
      </p:sp>
      <p:sp>
        <p:nvSpPr>
          <p:cNvPr id="9" name="Text 4"/>
          <p:cNvSpPr/>
          <p:nvPr/>
        </p:nvSpPr>
        <p:spPr>
          <a:xfrm>
            <a:off x="7484745" y="6026110"/>
            <a:ext cx="3267789" cy="371118"/>
          </a:xfrm>
          <a:prstGeom prst="rect">
            <a:avLst/>
          </a:prstGeom>
          <a:noFill/>
        </p:spPr>
        <p:txBody>
          <a:bodyPr wrap="none" rtlCol="0" anchor="t"/>
          <a:lstStyle/>
          <a:p>
            <a:pPr marL="0" indent="0" algn="l">
              <a:lnSpc>
                <a:spcPts val="2920"/>
              </a:lnSpc>
              <a:buNone/>
            </a:pPr>
            <a:r>
              <a:rPr lang="en-US" sz="2340" b="1" dirty="0">
                <a:solidFill>
                  <a:srgbClr val="272525"/>
                </a:solidFill>
                <a:latin typeface="Petrona" pitchFamily="34" charset="0"/>
                <a:ea typeface="Petrona" pitchFamily="34" charset="-122"/>
                <a:cs typeface="Petrona" pitchFamily="34" charset="-120"/>
              </a:rPr>
              <a:t>Stunning Environments</a:t>
            </a:r>
            <a:endParaRPr lang="en-US" sz="2340" dirty="0"/>
          </a:p>
        </p:txBody>
      </p:sp>
      <p:sp>
        <p:nvSpPr>
          <p:cNvPr id="10" name="Text 5"/>
          <p:cNvSpPr/>
          <p:nvPr/>
        </p:nvSpPr>
        <p:spPr>
          <a:xfrm>
            <a:off x="7484745" y="6532840"/>
            <a:ext cx="6354008" cy="1085850"/>
          </a:xfrm>
          <a:prstGeom prst="rect">
            <a:avLst/>
          </a:prstGeom>
          <a:noFill/>
        </p:spPr>
        <p:txBody>
          <a:bodyPr wrap="square" rtlCol="0" anchor="t"/>
          <a:lstStyle/>
          <a:p>
            <a:pPr marL="0" indent="0" algn="l">
              <a:lnSpc>
                <a:spcPts val="2850"/>
              </a:lnSpc>
              <a:buNone/>
            </a:pPr>
            <a:r>
              <a:rPr lang="en-US" sz="1780" dirty="0">
                <a:solidFill>
                  <a:srgbClr val="272525"/>
                </a:solidFill>
                <a:latin typeface="Inter" pitchFamily="34" charset="0"/>
                <a:ea typeface="Inter" pitchFamily="34" charset="-122"/>
                <a:cs typeface="Inter" pitchFamily="34" charset="-120"/>
              </a:rPr>
              <a:t>The game's world is a feast for the senses, featuring masterfully crafted, visually stunning environments that transport players to a realm of pure imagination.</a:t>
            </a:r>
            <a:endParaRPr lang="en-US" sz="1780" dirty="0"/>
          </a:p>
        </p:txBody>
      </p:sp>
      <p:pic>
        <p:nvPicPr>
          <p:cNvPr id="12" name="Picture 11" descr="fly2"/>
          <p:cNvPicPr>
            <a:picLocks noChangeAspect="1"/>
          </p:cNvPicPr>
          <p:nvPr/>
        </p:nvPicPr>
        <p:blipFill>
          <a:blip r:embed="rId4"/>
          <a:stretch>
            <a:fillRect/>
          </a:stretch>
        </p:blipFill>
        <p:spPr>
          <a:xfrm>
            <a:off x="1493520" y="2256790"/>
            <a:ext cx="4219575" cy="2876550"/>
          </a:xfrm>
          <a:prstGeom prst="rect">
            <a:avLst/>
          </a:prstGeom>
        </p:spPr>
      </p:pic>
      <p:pic>
        <p:nvPicPr>
          <p:cNvPr id="13" name="Picture 12" descr="background.png"/>
          <p:cNvPicPr>
            <a:picLocks noChangeAspect="1"/>
          </p:cNvPicPr>
          <p:nvPr/>
        </p:nvPicPr>
        <p:blipFill>
          <a:blip r:embed="rId5"/>
          <a:stretch>
            <a:fillRect/>
          </a:stretch>
        </p:blipFill>
        <p:spPr>
          <a:xfrm>
            <a:off x="6729095" y="1865630"/>
            <a:ext cx="7496175" cy="29387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14630400" cy="2835235"/>
          </a:xfrm>
          <a:prstGeom prst="rect">
            <a:avLst/>
          </a:prstGeom>
        </p:spPr>
      </p:pic>
      <p:sp>
        <p:nvSpPr>
          <p:cNvPr id="5" name="Text 1"/>
          <p:cNvSpPr/>
          <p:nvPr/>
        </p:nvSpPr>
        <p:spPr>
          <a:xfrm>
            <a:off x="793790" y="3775829"/>
            <a:ext cx="5954197" cy="744260"/>
          </a:xfrm>
          <a:prstGeom prst="rect">
            <a:avLst/>
          </a:prstGeom>
          <a:noFill/>
        </p:spPr>
        <p:txBody>
          <a:bodyPr wrap="none" rtlCol="0" anchor="t"/>
          <a:lstStyle/>
          <a:p>
            <a:pPr marL="0" indent="0">
              <a:lnSpc>
                <a:spcPts val="5860"/>
              </a:lnSpc>
              <a:buNone/>
            </a:pPr>
            <a:r>
              <a:rPr lang="en-US" sz="4690" b="1" dirty="0">
                <a:solidFill>
                  <a:srgbClr val="000000"/>
                </a:solidFill>
                <a:latin typeface="Petrona" pitchFamily="34" charset="0"/>
                <a:ea typeface="Petrona" pitchFamily="34" charset="-122"/>
                <a:cs typeface="Petrona" pitchFamily="34" charset="-120"/>
              </a:rPr>
              <a:t>Key Features </a:t>
            </a:r>
            <a:endParaRPr lang="en-US" sz="4690" dirty="0"/>
          </a:p>
        </p:txBody>
      </p:sp>
      <p:sp>
        <p:nvSpPr>
          <p:cNvPr id="6" name="Shape 2"/>
          <p:cNvSpPr/>
          <p:nvPr/>
        </p:nvSpPr>
        <p:spPr>
          <a:xfrm>
            <a:off x="793790" y="4860250"/>
            <a:ext cx="4196358" cy="2428637"/>
          </a:xfrm>
          <a:prstGeom prst="roundRect">
            <a:avLst>
              <a:gd name="adj" fmla="val 3923"/>
            </a:avLst>
          </a:prstGeom>
          <a:solidFill>
            <a:srgbClr val="CCEEFF"/>
          </a:solidFill>
          <a:ln w="7620">
            <a:solidFill>
              <a:srgbClr val="B2D4E5"/>
            </a:solidFill>
            <a:prstDash val="solid"/>
          </a:ln>
        </p:spPr>
      </p:sp>
      <p:sp>
        <p:nvSpPr>
          <p:cNvPr id="7" name="Text 3"/>
          <p:cNvSpPr/>
          <p:nvPr/>
        </p:nvSpPr>
        <p:spPr>
          <a:xfrm>
            <a:off x="1028224" y="5094684"/>
            <a:ext cx="2977039" cy="372070"/>
          </a:xfrm>
          <a:prstGeom prst="rect">
            <a:avLst/>
          </a:prstGeom>
          <a:noFill/>
        </p:spPr>
        <p:txBody>
          <a:bodyPr wrap="none" rtlCol="0" anchor="t"/>
          <a:lstStyle/>
          <a:p>
            <a:pPr marL="0" indent="0">
              <a:lnSpc>
                <a:spcPts val="2930"/>
              </a:lnSpc>
              <a:buNone/>
            </a:pPr>
            <a:r>
              <a:rPr lang="en-US" sz="2345" b="1" dirty="0">
                <a:solidFill>
                  <a:srgbClr val="272525"/>
                </a:solidFill>
                <a:latin typeface="Petrona" pitchFamily="34" charset="0"/>
                <a:ea typeface="Petrona" pitchFamily="34" charset="-122"/>
                <a:cs typeface="Petrona" pitchFamily="34" charset="-120"/>
              </a:rPr>
              <a:t>Game Exploration</a:t>
            </a:r>
            <a:endParaRPr lang="en-US" sz="2345" dirty="0"/>
          </a:p>
        </p:txBody>
      </p:sp>
      <p:sp>
        <p:nvSpPr>
          <p:cNvPr id="8" name="Text 4"/>
          <p:cNvSpPr/>
          <p:nvPr/>
        </p:nvSpPr>
        <p:spPr>
          <a:xfrm>
            <a:off x="1028224" y="5602843"/>
            <a:ext cx="3727490" cy="1451610"/>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Freely explore a vast ,detailed world filled with diverse environments</a:t>
            </a:r>
            <a:endParaRPr lang="en-US" sz="1785" dirty="0"/>
          </a:p>
        </p:txBody>
      </p:sp>
      <p:sp>
        <p:nvSpPr>
          <p:cNvPr id="9" name="Shape 5"/>
          <p:cNvSpPr/>
          <p:nvPr/>
        </p:nvSpPr>
        <p:spPr>
          <a:xfrm>
            <a:off x="5216962" y="4860250"/>
            <a:ext cx="4196358" cy="2428637"/>
          </a:xfrm>
          <a:prstGeom prst="roundRect">
            <a:avLst>
              <a:gd name="adj" fmla="val 3923"/>
            </a:avLst>
          </a:prstGeom>
          <a:solidFill>
            <a:srgbClr val="CCEEFF"/>
          </a:solidFill>
          <a:ln w="7620">
            <a:solidFill>
              <a:srgbClr val="B2D4E5"/>
            </a:solidFill>
            <a:prstDash val="solid"/>
          </a:ln>
        </p:spPr>
      </p:sp>
      <p:sp>
        <p:nvSpPr>
          <p:cNvPr id="10" name="Text 6"/>
          <p:cNvSpPr/>
          <p:nvPr/>
        </p:nvSpPr>
        <p:spPr>
          <a:xfrm>
            <a:off x="5451396" y="5094684"/>
            <a:ext cx="3057525" cy="372070"/>
          </a:xfrm>
          <a:prstGeom prst="rect">
            <a:avLst/>
          </a:prstGeom>
          <a:noFill/>
        </p:spPr>
        <p:txBody>
          <a:bodyPr wrap="none" rtlCol="0" anchor="t"/>
          <a:lstStyle/>
          <a:p>
            <a:pPr marL="0" indent="0">
              <a:lnSpc>
                <a:spcPts val="2930"/>
              </a:lnSpc>
              <a:buNone/>
            </a:pPr>
            <a:r>
              <a:rPr lang="en-US" sz="2345" b="1" dirty="0">
                <a:solidFill>
                  <a:srgbClr val="272525"/>
                </a:solidFill>
                <a:latin typeface="Petrona" pitchFamily="34" charset="0"/>
                <a:ea typeface="Petrona" pitchFamily="34" charset="-122"/>
                <a:cs typeface="Petrona" pitchFamily="34" charset="-120"/>
              </a:rPr>
              <a:t>Challenge Obstacles</a:t>
            </a:r>
            <a:endParaRPr lang="en-US" sz="2345" dirty="0"/>
          </a:p>
        </p:txBody>
      </p:sp>
      <p:sp>
        <p:nvSpPr>
          <p:cNvPr id="11" name="Text 7"/>
          <p:cNvSpPr/>
          <p:nvPr/>
        </p:nvSpPr>
        <p:spPr>
          <a:xfrm>
            <a:off x="5451396" y="5602843"/>
            <a:ext cx="3727490" cy="1451610"/>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 The flight boy tires to kill all birds appear before him &amp; it doen’t have any time limit.</a:t>
            </a:r>
            <a:endParaRPr lang="en-US" sz="1785" dirty="0"/>
          </a:p>
        </p:txBody>
      </p:sp>
      <p:sp>
        <p:nvSpPr>
          <p:cNvPr id="12" name="Shape 8"/>
          <p:cNvSpPr/>
          <p:nvPr/>
        </p:nvSpPr>
        <p:spPr>
          <a:xfrm>
            <a:off x="9640133" y="4860250"/>
            <a:ext cx="4196358" cy="2428637"/>
          </a:xfrm>
          <a:prstGeom prst="roundRect">
            <a:avLst>
              <a:gd name="adj" fmla="val 3923"/>
            </a:avLst>
          </a:prstGeom>
          <a:solidFill>
            <a:srgbClr val="CCEEFF"/>
          </a:solidFill>
          <a:ln w="7620">
            <a:solidFill>
              <a:srgbClr val="B2D4E5"/>
            </a:solidFill>
            <a:prstDash val="solid"/>
          </a:ln>
        </p:spPr>
      </p:sp>
      <p:sp>
        <p:nvSpPr>
          <p:cNvPr id="13" name="Text 9"/>
          <p:cNvSpPr/>
          <p:nvPr/>
        </p:nvSpPr>
        <p:spPr>
          <a:xfrm>
            <a:off x="9874568" y="5094684"/>
            <a:ext cx="2977039" cy="372070"/>
          </a:xfrm>
          <a:prstGeom prst="rect">
            <a:avLst/>
          </a:prstGeom>
          <a:noFill/>
        </p:spPr>
        <p:txBody>
          <a:bodyPr wrap="none" rtlCol="0" anchor="t"/>
          <a:lstStyle/>
          <a:p>
            <a:pPr marL="0" indent="0">
              <a:lnSpc>
                <a:spcPts val="2930"/>
              </a:lnSpc>
              <a:buNone/>
            </a:pPr>
            <a:r>
              <a:rPr lang="en-US" sz="2345" b="1" dirty="0">
                <a:solidFill>
                  <a:srgbClr val="272525"/>
                </a:solidFill>
                <a:latin typeface="Petrona" pitchFamily="34" charset="0"/>
                <a:ea typeface="Petrona" pitchFamily="34" charset="-122"/>
                <a:cs typeface="Petrona" pitchFamily="34" charset="-120"/>
              </a:rPr>
              <a:t>Overview</a:t>
            </a:r>
            <a:endParaRPr lang="en-US" sz="2345" dirty="0"/>
          </a:p>
        </p:txBody>
      </p:sp>
      <p:sp>
        <p:nvSpPr>
          <p:cNvPr id="14" name="Text 10"/>
          <p:cNvSpPr/>
          <p:nvPr/>
        </p:nvSpPr>
        <p:spPr>
          <a:xfrm>
            <a:off x="9874568" y="5602843"/>
            <a:ext cx="3727490" cy="1451610"/>
          </a:xfrm>
          <a:prstGeom prst="rect">
            <a:avLst/>
          </a:prstGeom>
          <a:noFill/>
        </p:spPr>
        <p:txBody>
          <a:bodyPr wrap="square" rtlCol="0" anchor="t"/>
          <a:lstStyle/>
          <a:p>
            <a:pPr marL="0" indent="0">
              <a:lnSpc>
                <a:spcPts val="2860"/>
              </a:lnSpc>
              <a:buNone/>
            </a:pPr>
            <a:r>
              <a:rPr lang="en-US" sz="1785" dirty="0">
                <a:solidFill>
                  <a:srgbClr val="272525"/>
                </a:solidFill>
                <a:latin typeface="Inter" pitchFamily="34" charset="0"/>
                <a:ea typeface="Inter" pitchFamily="34" charset="-122"/>
                <a:cs typeface="Inter" pitchFamily="34" charset="-120"/>
              </a:rPr>
              <a:t>Discover the captivating story behind the boy's journey, as you navigate through a world of wonder and imagination.</a:t>
            </a:r>
            <a:endParaRPr lang="en-US" sz="178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14630400" cy="2817019"/>
          </a:xfrm>
          <a:prstGeom prst="rect">
            <a:avLst/>
          </a:prstGeom>
        </p:spPr>
      </p:pic>
      <p:sp>
        <p:nvSpPr>
          <p:cNvPr id="5" name="Text 1"/>
          <p:cNvSpPr/>
          <p:nvPr/>
        </p:nvSpPr>
        <p:spPr>
          <a:xfrm>
            <a:off x="788670" y="3436739"/>
            <a:ext cx="5915858" cy="739497"/>
          </a:xfrm>
          <a:prstGeom prst="rect">
            <a:avLst/>
          </a:prstGeom>
          <a:noFill/>
        </p:spPr>
        <p:txBody>
          <a:bodyPr wrap="none" rtlCol="0" anchor="t"/>
          <a:lstStyle/>
          <a:p>
            <a:pPr marL="0" indent="0">
              <a:lnSpc>
                <a:spcPts val="5825"/>
              </a:lnSpc>
              <a:buNone/>
            </a:pPr>
            <a:r>
              <a:rPr lang="en-US" sz="4660" b="1" dirty="0">
                <a:solidFill>
                  <a:srgbClr val="000000"/>
                </a:solidFill>
                <a:latin typeface="Petrona" pitchFamily="34" charset="0"/>
                <a:ea typeface="Petrona" pitchFamily="34" charset="-122"/>
                <a:cs typeface="Petrona" pitchFamily="34" charset="-120"/>
              </a:rPr>
              <a:t>2D Animation</a:t>
            </a:r>
            <a:endParaRPr lang="en-US" sz="4660" dirty="0"/>
          </a:p>
        </p:txBody>
      </p:sp>
      <p:pic>
        <p:nvPicPr>
          <p:cNvPr id="6" name="Image 2" descr="preencoded.png"/>
          <p:cNvPicPr>
            <a:picLocks noChangeAspect="1"/>
          </p:cNvPicPr>
          <p:nvPr/>
        </p:nvPicPr>
        <p:blipFill>
          <a:blip r:embed="rId5"/>
          <a:stretch>
            <a:fillRect/>
          </a:stretch>
        </p:blipFill>
        <p:spPr>
          <a:xfrm>
            <a:off x="788670" y="4514255"/>
            <a:ext cx="563404" cy="563404"/>
          </a:xfrm>
          <a:prstGeom prst="rect">
            <a:avLst/>
          </a:prstGeom>
        </p:spPr>
      </p:pic>
      <p:sp>
        <p:nvSpPr>
          <p:cNvPr id="7" name="Text 2"/>
          <p:cNvSpPr/>
          <p:nvPr/>
        </p:nvSpPr>
        <p:spPr>
          <a:xfrm>
            <a:off x="788670" y="5302925"/>
            <a:ext cx="2957870" cy="369689"/>
          </a:xfrm>
          <a:prstGeom prst="rect">
            <a:avLst/>
          </a:prstGeom>
          <a:noFill/>
        </p:spPr>
        <p:txBody>
          <a:bodyPr wrap="none" rtlCol="0" anchor="t"/>
          <a:lstStyle/>
          <a:p>
            <a:pPr marL="0" indent="0" algn="l">
              <a:lnSpc>
                <a:spcPts val="2910"/>
              </a:lnSpc>
              <a:buNone/>
            </a:pPr>
            <a:r>
              <a:rPr lang="en-US" sz="2330" b="1" dirty="0">
                <a:solidFill>
                  <a:srgbClr val="272525"/>
                </a:solidFill>
                <a:latin typeface="Petrona" pitchFamily="34" charset="0"/>
                <a:ea typeface="Petrona" pitchFamily="34" charset="-122"/>
                <a:cs typeface="Petrona" pitchFamily="34" charset="-120"/>
              </a:rPr>
              <a:t>Fluid Movements</a:t>
            </a:r>
            <a:endParaRPr lang="en-US" sz="2330" dirty="0"/>
          </a:p>
        </p:txBody>
      </p:sp>
      <p:sp>
        <p:nvSpPr>
          <p:cNvPr id="8" name="Text 3"/>
          <p:cNvSpPr/>
          <p:nvPr/>
        </p:nvSpPr>
        <p:spPr>
          <a:xfrm>
            <a:off x="788670" y="5807750"/>
            <a:ext cx="4125635" cy="1442085"/>
          </a:xfrm>
          <a:prstGeom prst="rect">
            <a:avLst/>
          </a:prstGeom>
          <a:noFill/>
        </p:spPr>
        <p:txBody>
          <a:bodyPr wrap="square" rtlCol="0" anchor="t"/>
          <a:lstStyle/>
          <a:p>
            <a:pPr marL="0" indent="0" algn="l">
              <a:lnSpc>
                <a:spcPts val="2840"/>
              </a:lnSpc>
              <a:buNone/>
            </a:pPr>
            <a:r>
              <a:rPr lang="en-US" sz="1775" dirty="0">
                <a:solidFill>
                  <a:srgbClr val="272525"/>
                </a:solidFill>
                <a:latin typeface="Inter" pitchFamily="34" charset="0"/>
                <a:ea typeface="Inter" pitchFamily="34" charset="-122"/>
                <a:cs typeface="Inter" pitchFamily="34" charset="-120"/>
              </a:rPr>
              <a:t>The boy's wings flap gracefully, creating a mesmerizing aerial display that enhances the sense of weightlessness and freedom.</a:t>
            </a:r>
            <a:endParaRPr lang="en-US" sz="1775" dirty="0"/>
          </a:p>
        </p:txBody>
      </p:sp>
      <p:pic>
        <p:nvPicPr>
          <p:cNvPr id="9" name="Image 3" descr="preencoded.png"/>
          <p:cNvPicPr>
            <a:picLocks noChangeAspect="1"/>
          </p:cNvPicPr>
          <p:nvPr/>
        </p:nvPicPr>
        <p:blipFill>
          <a:blip r:embed="rId6"/>
          <a:stretch>
            <a:fillRect/>
          </a:stretch>
        </p:blipFill>
        <p:spPr>
          <a:xfrm>
            <a:off x="5252323" y="4514255"/>
            <a:ext cx="563404" cy="563404"/>
          </a:xfrm>
          <a:prstGeom prst="rect">
            <a:avLst/>
          </a:prstGeom>
        </p:spPr>
      </p:pic>
      <p:sp>
        <p:nvSpPr>
          <p:cNvPr id="10" name="Text 4"/>
          <p:cNvSpPr/>
          <p:nvPr/>
        </p:nvSpPr>
        <p:spPr>
          <a:xfrm>
            <a:off x="5252323" y="5302925"/>
            <a:ext cx="3306961" cy="369689"/>
          </a:xfrm>
          <a:prstGeom prst="rect">
            <a:avLst/>
          </a:prstGeom>
          <a:noFill/>
        </p:spPr>
        <p:txBody>
          <a:bodyPr wrap="none" rtlCol="0" anchor="t"/>
          <a:lstStyle/>
          <a:p>
            <a:pPr marL="0" indent="0" algn="l">
              <a:lnSpc>
                <a:spcPts val="2910"/>
              </a:lnSpc>
              <a:buNone/>
            </a:pPr>
            <a:r>
              <a:rPr lang="en-US" sz="2330" b="1" dirty="0">
                <a:solidFill>
                  <a:srgbClr val="272525"/>
                </a:solidFill>
                <a:latin typeface="Petrona" pitchFamily="34" charset="0"/>
                <a:ea typeface="Petrona" pitchFamily="34" charset="-122"/>
                <a:cs typeface="Petrona" pitchFamily="34" charset="-120"/>
              </a:rPr>
              <a:t>Enchanting Interactions</a:t>
            </a:r>
            <a:endParaRPr lang="en-US" sz="2330" dirty="0"/>
          </a:p>
        </p:txBody>
      </p:sp>
      <p:sp>
        <p:nvSpPr>
          <p:cNvPr id="11" name="Text 5"/>
          <p:cNvSpPr/>
          <p:nvPr/>
        </p:nvSpPr>
        <p:spPr>
          <a:xfrm>
            <a:off x="5252323" y="5807750"/>
            <a:ext cx="4125635" cy="1802606"/>
          </a:xfrm>
          <a:prstGeom prst="rect">
            <a:avLst/>
          </a:prstGeom>
          <a:noFill/>
        </p:spPr>
        <p:txBody>
          <a:bodyPr wrap="square" rtlCol="0" anchor="t"/>
          <a:lstStyle/>
          <a:p>
            <a:pPr marL="0" indent="0" algn="l">
              <a:lnSpc>
                <a:spcPts val="2840"/>
              </a:lnSpc>
              <a:buNone/>
            </a:pPr>
            <a:r>
              <a:rPr lang="en-US" sz="1775" dirty="0">
                <a:solidFill>
                  <a:srgbClr val="272525"/>
                </a:solidFill>
                <a:latin typeface="Inter" pitchFamily="34" charset="0"/>
                <a:ea typeface="Inter" pitchFamily="34" charset="-122"/>
                <a:cs typeface="Inter" pitchFamily="34" charset="-120"/>
              </a:rPr>
              <a:t>As the boy navigates the world, he interacts with magical crystals with his flight  and other interactive elements, bringing the game to life with charming 2D animations.</a:t>
            </a:r>
            <a:endParaRPr lang="en-US" sz="1775" dirty="0"/>
          </a:p>
        </p:txBody>
      </p:sp>
      <p:pic>
        <p:nvPicPr>
          <p:cNvPr id="12" name="Image 4" descr="preencoded.png"/>
          <p:cNvPicPr>
            <a:picLocks noChangeAspect="1"/>
          </p:cNvPicPr>
          <p:nvPr/>
        </p:nvPicPr>
        <p:blipFill>
          <a:blip r:embed="rId7"/>
          <a:stretch>
            <a:fillRect/>
          </a:stretch>
        </p:blipFill>
        <p:spPr>
          <a:xfrm>
            <a:off x="9715976" y="4514255"/>
            <a:ext cx="563404" cy="563404"/>
          </a:xfrm>
          <a:prstGeom prst="rect">
            <a:avLst/>
          </a:prstGeom>
        </p:spPr>
      </p:pic>
      <p:sp>
        <p:nvSpPr>
          <p:cNvPr id="13" name="Text 6"/>
          <p:cNvSpPr/>
          <p:nvPr/>
        </p:nvSpPr>
        <p:spPr>
          <a:xfrm>
            <a:off x="9715976" y="5302925"/>
            <a:ext cx="2957870" cy="369689"/>
          </a:xfrm>
          <a:prstGeom prst="rect">
            <a:avLst/>
          </a:prstGeom>
          <a:noFill/>
        </p:spPr>
        <p:txBody>
          <a:bodyPr wrap="none" rtlCol="0" anchor="t"/>
          <a:lstStyle/>
          <a:p>
            <a:pPr marL="0" indent="0" algn="l">
              <a:lnSpc>
                <a:spcPts val="2910"/>
              </a:lnSpc>
              <a:buNone/>
            </a:pPr>
            <a:r>
              <a:rPr lang="en-US" sz="2330" b="1" dirty="0">
                <a:solidFill>
                  <a:srgbClr val="272525"/>
                </a:solidFill>
                <a:latin typeface="Petrona" pitchFamily="34" charset="0"/>
                <a:ea typeface="Petrona" pitchFamily="34" charset="-122"/>
                <a:cs typeface="Petrona" pitchFamily="34" charset="-120"/>
              </a:rPr>
              <a:t>Dynamic Obstacles</a:t>
            </a:r>
            <a:endParaRPr lang="en-US" sz="2330" dirty="0"/>
          </a:p>
        </p:txBody>
      </p:sp>
      <p:sp>
        <p:nvSpPr>
          <p:cNvPr id="14" name="Text 7"/>
          <p:cNvSpPr/>
          <p:nvPr/>
        </p:nvSpPr>
        <p:spPr>
          <a:xfrm>
            <a:off x="9715976" y="5807750"/>
            <a:ext cx="4125754" cy="1802606"/>
          </a:xfrm>
          <a:prstGeom prst="rect">
            <a:avLst/>
          </a:prstGeom>
          <a:noFill/>
        </p:spPr>
        <p:txBody>
          <a:bodyPr wrap="square" rtlCol="0" anchor="t"/>
          <a:lstStyle/>
          <a:p>
            <a:pPr marL="0" indent="0" algn="l">
              <a:lnSpc>
                <a:spcPts val="2840"/>
              </a:lnSpc>
              <a:buNone/>
            </a:pPr>
            <a:r>
              <a:rPr lang="en-US" sz="1775" dirty="0">
                <a:solidFill>
                  <a:srgbClr val="272525"/>
                </a:solidFill>
                <a:latin typeface="Inter" pitchFamily="34" charset="0"/>
                <a:ea typeface="Inter" pitchFamily="34" charset="-122"/>
                <a:cs typeface="Inter" pitchFamily="34" charset="-120"/>
              </a:rPr>
              <a:t>All the design of the game, are brought to life through captivating 2D animations that add to the thrill of the gameplay.</a:t>
            </a:r>
            <a:endParaRPr lang="en-US" sz="17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80190" y="732830"/>
            <a:ext cx="5954197" cy="744260"/>
          </a:xfrm>
          <a:prstGeom prst="rect">
            <a:avLst/>
          </a:prstGeom>
          <a:noFill/>
        </p:spPr>
        <p:txBody>
          <a:bodyPr wrap="none" rtlCol="0" anchor="t"/>
          <a:lstStyle/>
          <a:p>
            <a:pPr marL="0" indent="0">
              <a:lnSpc>
                <a:spcPts val="5860"/>
              </a:lnSpc>
              <a:buNone/>
            </a:pPr>
            <a:r>
              <a:rPr lang="en-US" sz="4690" b="1" dirty="0">
                <a:solidFill>
                  <a:srgbClr val="000000"/>
                </a:solidFill>
                <a:latin typeface="Petrona" pitchFamily="34" charset="0"/>
                <a:ea typeface="Petrona" pitchFamily="34" charset="-122"/>
                <a:cs typeface="Petrona" pitchFamily="34" charset="-120"/>
              </a:rPr>
              <a:t>Rules of the Game</a:t>
            </a:r>
            <a:endParaRPr lang="en-US" sz="4690" dirty="0"/>
          </a:p>
        </p:txBody>
      </p:sp>
      <p:pic>
        <p:nvPicPr>
          <p:cNvPr id="6" name="Image 2" descr="preencoded.png"/>
          <p:cNvPicPr>
            <a:picLocks noChangeAspect="1"/>
          </p:cNvPicPr>
          <p:nvPr/>
        </p:nvPicPr>
        <p:blipFill>
          <a:blip r:embed="rId5"/>
          <a:stretch>
            <a:fillRect/>
          </a:stretch>
        </p:blipFill>
        <p:spPr>
          <a:xfrm>
            <a:off x="6280190" y="1817251"/>
            <a:ext cx="1134070" cy="1814513"/>
          </a:xfrm>
          <a:prstGeom prst="rect">
            <a:avLst/>
          </a:prstGeom>
        </p:spPr>
      </p:pic>
      <p:sp>
        <p:nvSpPr>
          <p:cNvPr id="8" name="Text 3"/>
          <p:cNvSpPr/>
          <p:nvPr/>
        </p:nvSpPr>
        <p:spPr>
          <a:xfrm>
            <a:off x="7754620" y="1941830"/>
            <a:ext cx="6082030" cy="1565910"/>
          </a:xfrm>
          <a:prstGeom prst="rect">
            <a:avLst/>
          </a:prstGeom>
          <a:noFill/>
        </p:spPr>
        <p:txBody>
          <a:bodyPr wrap="square" rtlCol="0" anchor="t"/>
          <a:lstStyle/>
          <a:p>
            <a:pPr marL="0" indent="0" algn="l">
              <a:lnSpc>
                <a:spcPts val="2860"/>
              </a:lnSpc>
              <a:buNone/>
            </a:pPr>
            <a:r>
              <a:rPr lang="en-US" sz="1785" dirty="0">
                <a:solidFill>
                  <a:srgbClr val="272525"/>
                </a:solidFill>
                <a:latin typeface="Inter" pitchFamily="34" charset="0"/>
                <a:ea typeface="Inter" pitchFamily="34" charset="-122"/>
                <a:cs typeface="Inter" pitchFamily="34" charset="-120"/>
              </a:rPr>
              <a:t> If you touch right side of the screen then the flight will shoot the bullets.</a:t>
            </a:r>
          </a:p>
          <a:p>
            <a:pPr marL="0" indent="0" algn="l">
              <a:lnSpc>
                <a:spcPts val="2860"/>
              </a:lnSpc>
              <a:buNone/>
            </a:pPr>
            <a:r>
              <a:rPr lang="en-US" sz="1785" dirty="0">
                <a:solidFill>
                  <a:srgbClr val="272525"/>
                </a:solidFill>
                <a:latin typeface="Inter" pitchFamily="34" charset="0"/>
                <a:ea typeface="Inter" pitchFamily="34" charset="-122"/>
                <a:cs typeface="Inter" pitchFamily="34" charset="-120"/>
              </a:rPr>
              <a:t> If you touch left side of the screen then we can control the flight to move up and down.</a:t>
            </a:r>
            <a:endParaRPr lang="en-US" sz="1785" dirty="0"/>
          </a:p>
        </p:txBody>
      </p:sp>
      <p:pic>
        <p:nvPicPr>
          <p:cNvPr id="9" name="Image 3" descr="preencoded.png"/>
          <p:cNvPicPr>
            <a:picLocks noChangeAspect="1"/>
          </p:cNvPicPr>
          <p:nvPr/>
        </p:nvPicPr>
        <p:blipFill>
          <a:blip r:embed="rId6"/>
          <a:stretch>
            <a:fillRect/>
          </a:stretch>
        </p:blipFill>
        <p:spPr>
          <a:xfrm>
            <a:off x="6280190" y="3631763"/>
            <a:ext cx="1134070" cy="1814513"/>
          </a:xfrm>
          <a:prstGeom prst="rect">
            <a:avLst/>
          </a:prstGeom>
        </p:spPr>
      </p:pic>
      <p:sp>
        <p:nvSpPr>
          <p:cNvPr id="11" name="Text 5"/>
          <p:cNvSpPr/>
          <p:nvPr/>
        </p:nvSpPr>
        <p:spPr>
          <a:xfrm>
            <a:off x="7807127" y="4093686"/>
            <a:ext cx="6082189" cy="725805"/>
          </a:xfrm>
          <a:prstGeom prst="rect">
            <a:avLst/>
          </a:prstGeom>
          <a:noFill/>
        </p:spPr>
        <p:txBody>
          <a:bodyPr wrap="square" rtlCol="0" anchor="t"/>
          <a:lstStyle/>
          <a:p>
            <a:pPr marL="0" indent="0" algn="l">
              <a:lnSpc>
                <a:spcPts val="2860"/>
              </a:lnSpc>
              <a:buNone/>
            </a:pPr>
            <a:r>
              <a:rPr lang="en-US" sz="1785" dirty="0">
                <a:solidFill>
                  <a:srgbClr val="272525"/>
                </a:solidFill>
                <a:latin typeface="Inter" pitchFamily="34" charset="0"/>
                <a:ea typeface="Inter" pitchFamily="34" charset="-122"/>
                <a:cs typeface="Inter" pitchFamily="34" charset="-120"/>
                <a:sym typeface="+mn-ea"/>
              </a:rPr>
              <a:t>If the boy misses any bird to kill (Or) bird passes through the boy side then the game will be over.</a:t>
            </a:r>
            <a:endParaRPr lang="en-US" sz="1785" dirty="0"/>
          </a:p>
        </p:txBody>
      </p:sp>
      <p:pic>
        <p:nvPicPr>
          <p:cNvPr id="12" name="Image 4" descr="preencoded.png"/>
          <p:cNvPicPr>
            <a:picLocks noChangeAspect="1"/>
          </p:cNvPicPr>
          <p:nvPr/>
        </p:nvPicPr>
        <p:blipFill>
          <a:blip r:embed="rId7"/>
          <a:stretch>
            <a:fillRect/>
          </a:stretch>
        </p:blipFill>
        <p:spPr>
          <a:xfrm>
            <a:off x="6280190" y="5446276"/>
            <a:ext cx="1134070" cy="2050494"/>
          </a:xfrm>
          <a:prstGeom prst="rect">
            <a:avLst/>
          </a:prstGeom>
        </p:spPr>
      </p:pic>
      <p:sp>
        <p:nvSpPr>
          <p:cNvPr id="14" name="Text 7"/>
          <p:cNvSpPr/>
          <p:nvPr/>
        </p:nvSpPr>
        <p:spPr>
          <a:xfrm>
            <a:off x="7754422" y="5927249"/>
            <a:ext cx="6082189" cy="1088708"/>
          </a:xfrm>
          <a:prstGeom prst="rect">
            <a:avLst/>
          </a:prstGeom>
          <a:noFill/>
        </p:spPr>
        <p:txBody>
          <a:bodyPr wrap="square" rtlCol="0" anchor="t"/>
          <a:lstStyle/>
          <a:p>
            <a:pPr marL="0" indent="0" algn="l">
              <a:lnSpc>
                <a:spcPts val="2860"/>
              </a:lnSpc>
              <a:buNone/>
            </a:pPr>
            <a:r>
              <a:rPr lang="en-US" sz="1785" dirty="0">
                <a:solidFill>
                  <a:srgbClr val="272525"/>
                </a:solidFill>
                <a:latin typeface="Inter" pitchFamily="34" charset="0"/>
                <a:ea typeface="Inter" pitchFamily="34" charset="-122"/>
                <a:cs typeface="Inter" pitchFamily="34" charset="-120"/>
                <a:sym typeface="+mn-ea"/>
              </a:rPr>
              <a:t>If the flight boy and flying bird collide (Or) hit each other then also game will be over.</a:t>
            </a:r>
            <a:endParaRPr lang="en-US" sz="1785" dirty="0"/>
          </a:p>
          <a:p>
            <a:pPr marL="0" indent="0" algn="l">
              <a:lnSpc>
                <a:spcPts val="2860"/>
              </a:lnSpc>
              <a:buNone/>
            </a:pPr>
            <a:endParaRPr lang="en-US" sz="178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728420" y="530554"/>
            <a:ext cx="2964273" cy="1015663"/>
          </a:xfrm>
          <a:prstGeom prst="rect">
            <a:avLst/>
          </a:prstGeom>
          <a:noFill/>
        </p:spPr>
        <p:txBody>
          <a:bodyPr wrap="none" rtlCol="0">
            <a:spAutoFit/>
          </a:bodyPr>
          <a:lstStyle/>
          <a:p>
            <a:r>
              <a:rPr lang="en-US" sz="6000" b="1" dirty="0" smtClean="0">
                <a:latin typeface="Petrona"/>
                <a:ea typeface="Petrona"/>
              </a:rPr>
              <a:t>Results</a:t>
            </a:r>
            <a:endParaRPr lang="en-US" sz="6000" b="1" dirty="0">
              <a:latin typeface="Petrona"/>
              <a:ea typeface="Petrona"/>
            </a:endParaRPr>
          </a:p>
        </p:txBody>
      </p:sp>
      <p:pic>
        <p:nvPicPr>
          <p:cNvPr id="27650" name="Picture 2" descr="C:\Users\D.JAYA PAL\Downloads\WhatsApp Image 2024-11-10 at 3.54.23 PM.jpeg"/>
          <p:cNvPicPr>
            <a:picLocks noChangeAspect="1" noChangeArrowheads="1"/>
          </p:cNvPicPr>
          <p:nvPr/>
        </p:nvPicPr>
        <p:blipFill>
          <a:blip r:embed="rId3"/>
          <a:srcRect/>
          <a:stretch>
            <a:fillRect/>
          </a:stretch>
        </p:blipFill>
        <p:spPr bwMode="auto">
          <a:xfrm>
            <a:off x="933067" y="1794191"/>
            <a:ext cx="6028841" cy="2782542"/>
          </a:xfrm>
          <a:prstGeom prst="rect">
            <a:avLst/>
          </a:prstGeom>
          <a:noFill/>
        </p:spPr>
      </p:pic>
      <p:pic>
        <p:nvPicPr>
          <p:cNvPr id="27651" name="Picture 3" descr="C:\Users\D.JAYA PAL\Downloads\WhatsApp Image 2024-11-10 at 3.54.24 PM.jpeg"/>
          <p:cNvPicPr>
            <a:picLocks noChangeAspect="1" noChangeArrowheads="1"/>
          </p:cNvPicPr>
          <p:nvPr/>
        </p:nvPicPr>
        <p:blipFill>
          <a:blip r:embed="rId4"/>
          <a:srcRect/>
          <a:stretch>
            <a:fillRect/>
          </a:stretch>
        </p:blipFill>
        <p:spPr bwMode="auto">
          <a:xfrm>
            <a:off x="933066" y="5179601"/>
            <a:ext cx="6028841" cy="2782542"/>
          </a:xfrm>
          <a:prstGeom prst="rect">
            <a:avLst/>
          </a:prstGeom>
          <a:noFill/>
        </p:spPr>
      </p:pic>
      <p:pic>
        <p:nvPicPr>
          <p:cNvPr id="27652" name="Picture 4" descr="C:\Users\D.JAYA PAL\Downloads\WhatsApp Image 2024-11-10 at 3.54.23 PM (1).jpeg"/>
          <p:cNvPicPr>
            <a:picLocks noChangeAspect="1" noChangeArrowheads="1"/>
          </p:cNvPicPr>
          <p:nvPr/>
        </p:nvPicPr>
        <p:blipFill>
          <a:blip r:embed="rId5"/>
          <a:srcRect/>
          <a:stretch>
            <a:fillRect/>
          </a:stretch>
        </p:blipFill>
        <p:spPr bwMode="auto">
          <a:xfrm>
            <a:off x="7771915" y="1794190"/>
            <a:ext cx="6028840" cy="2782542"/>
          </a:xfrm>
          <a:prstGeom prst="rect">
            <a:avLst/>
          </a:prstGeom>
          <a:noFill/>
        </p:spPr>
      </p:pic>
      <p:sp>
        <p:nvSpPr>
          <p:cNvPr id="27654" name="AutoShape 6" descr="blob:https://web.whatsapp.com/3e316dbe-3239-4741-a503-4f8edc69f4c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7656" name="AutoShape 8" descr="blob:https://web.whatsapp.com/3e316dbe-3239-4741-a503-4f8edc69f4c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7657" name="Picture 9" descr="C:\Users\D.JAYA PAL\Downloads\WhatsApp Image 2024-11-10 at 3.54.23 PM (2).jpeg"/>
          <p:cNvPicPr>
            <a:picLocks noChangeAspect="1" noChangeArrowheads="1"/>
          </p:cNvPicPr>
          <p:nvPr/>
        </p:nvPicPr>
        <p:blipFill>
          <a:blip r:embed="rId6"/>
          <a:srcRect/>
          <a:stretch>
            <a:fillRect/>
          </a:stretch>
        </p:blipFill>
        <p:spPr bwMode="auto">
          <a:xfrm>
            <a:off x="7771915" y="5179601"/>
            <a:ext cx="6028841" cy="2782542"/>
          </a:xfrm>
          <a:prstGeom prst="rect">
            <a:avLst/>
          </a:prstGeom>
          <a:noFill/>
        </p:spPr>
      </p:pic>
      <p:sp>
        <p:nvSpPr>
          <p:cNvPr id="10" name="TextBox 9"/>
          <p:cNvSpPr txBox="1"/>
          <p:nvPr/>
        </p:nvSpPr>
        <p:spPr>
          <a:xfrm>
            <a:off x="9903417" y="6106332"/>
            <a:ext cx="1827744" cy="461665"/>
          </a:xfrm>
          <a:prstGeom prst="rect">
            <a:avLst/>
          </a:prstGeom>
          <a:noFill/>
        </p:spPr>
        <p:txBody>
          <a:bodyPr wrap="none" rtlCol="0">
            <a:spAutoFit/>
          </a:bodyPr>
          <a:lstStyle/>
          <a:p>
            <a:r>
              <a:rPr lang="en-US" sz="2400" b="1" dirty="0" smtClean="0">
                <a:latin typeface="Petrona"/>
                <a:ea typeface="Petrona"/>
              </a:rPr>
              <a:t>Game Over</a:t>
            </a:r>
            <a:endParaRPr lang="en-US" sz="2400" b="1" dirty="0">
              <a:latin typeface="Petrona"/>
              <a:ea typeface="Petrona"/>
            </a:endParaRPr>
          </a:p>
        </p:txBody>
      </p:sp>
      <p:sp>
        <p:nvSpPr>
          <p:cNvPr id="11" name="TextBox 10"/>
          <p:cNvSpPr txBox="1"/>
          <p:nvPr/>
        </p:nvSpPr>
        <p:spPr>
          <a:xfrm>
            <a:off x="2340244" y="6337164"/>
            <a:ext cx="2218877" cy="461665"/>
          </a:xfrm>
          <a:prstGeom prst="rect">
            <a:avLst/>
          </a:prstGeom>
          <a:noFill/>
        </p:spPr>
        <p:txBody>
          <a:bodyPr wrap="none" rtlCol="0">
            <a:spAutoFit/>
          </a:bodyPr>
          <a:lstStyle/>
          <a:p>
            <a:r>
              <a:rPr lang="en-US" sz="2400" b="1" dirty="0" smtClean="0">
                <a:latin typeface="Petrona"/>
                <a:ea typeface="Petrona"/>
              </a:rPr>
              <a:t>Playing Game</a:t>
            </a:r>
            <a:endParaRPr lang="en-US" sz="2400" b="1" dirty="0">
              <a:latin typeface="Petrona"/>
              <a:ea typeface="Petro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80190" y="695325"/>
            <a:ext cx="5954197" cy="744260"/>
          </a:xfrm>
          <a:prstGeom prst="rect">
            <a:avLst/>
          </a:prstGeom>
          <a:noFill/>
        </p:spPr>
        <p:txBody>
          <a:bodyPr wrap="none" rtlCol="0" anchor="t"/>
          <a:lstStyle/>
          <a:p>
            <a:pPr marL="0" indent="0">
              <a:lnSpc>
                <a:spcPts val="5860"/>
              </a:lnSpc>
              <a:buNone/>
            </a:pPr>
            <a:r>
              <a:rPr lang="en-US" sz="4690" b="1" dirty="0">
                <a:solidFill>
                  <a:srgbClr val="000000"/>
                </a:solidFill>
                <a:latin typeface="Petrona" pitchFamily="34" charset="0"/>
                <a:ea typeface="Petrona" pitchFamily="34" charset="-122"/>
                <a:cs typeface="Petrona" pitchFamily="34" charset="-120"/>
              </a:rPr>
              <a:t>Conclusion</a:t>
            </a:r>
            <a:endParaRPr lang="en-US" sz="4690" dirty="0"/>
          </a:p>
        </p:txBody>
      </p:sp>
      <p:sp>
        <p:nvSpPr>
          <p:cNvPr id="9" name="Text 5"/>
          <p:cNvSpPr/>
          <p:nvPr/>
        </p:nvSpPr>
        <p:spPr>
          <a:xfrm>
            <a:off x="6280150" y="2670810"/>
            <a:ext cx="8094980" cy="4045585"/>
          </a:xfrm>
          <a:prstGeom prst="rect">
            <a:avLst/>
          </a:prstGeom>
          <a:noFill/>
        </p:spPr>
        <p:txBody>
          <a:bodyPr wrap="square" rtlCol="0" anchor="t"/>
          <a:lstStyle/>
          <a:p>
            <a:pPr marL="0" indent="0">
              <a:lnSpc>
                <a:spcPts val="2860"/>
              </a:lnSpc>
              <a:buNone/>
            </a:pPr>
            <a:r>
              <a:rPr lang="en-US" sz="2400" dirty="0">
                <a:solidFill>
                  <a:srgbClr val="272525"/>
                </a:solidFill>
                <a:latin typeface="Inter" pitchFamily="34" charset="0"/>
                <a:ea typeface="Inter" pitchFamily="34" charset="-122"/>
                <a:cs typeface="Inter" pitchFamily="34" charset="-120"/>
              </a:rPr>
              <a:t>The Boy Flying Game offers a truly imperssive and captivating experience, blending stunning visuals, intuitive controls, and a sense of wonder and adventure. </a:t>
            </a:r>
            <a:r>
              <a:rPr lang="en-US" sz="2400" dirty="0">
                <a:solidFill>
                  <a:srgbClr val="272525"/>
                </a:solidFill>
                <a:latin typeface="Inter" pitchFamily="34" charset="0"/>
                <a:ea typeface="Inter" pitchFamily="34" charset="-122"/>
                <a:cs typeface="Inter" pitchFamily="34" charset="-120"/>
                <a:sym typeface="+mn-ea"/>
              </a:rPr>
              <a:t>Embark on a magical journey with the young protagonist, soaring through a realm of imagination and discovery, where the only limit is your own aerial process.</a:t>
            </a:r>
          </a:p>
          <a:p>
            <a:pPr marL="0" indent="0">
              <a:lnSpc>
                <a:spcPts val="2860"/>
              </a:lnSpc>
              <a:buNone/>
            </a:pPr>
            <a:endParaRPr lang="en-US" sz="2400" dirty="0">
              <a:solidFill>
                <a:srgbClr val="272525"/>
              </a:solidFill>
              <a:latin typeface="Inter" pitchFamily="34" charset="0"/>
              <a:ea typeface="Inter" pitchFamily="34" charset="-122"/>
              <a:cs typeface="Inter" pitchFamily="34" charset="-120"/>
              <a:sym typeface="+mn-ea"/>
            </a:endParaRPr>
          </a:p>
          <a:p>
            <a:pPr marL="0" indent="0">
              <a:lnSpc>
                <a:spcPts val="2860"/>
              </a:lnSpc>
              <a:buNone/>
            </a:pPr>
            <a:r>
              <a:rPr lang="en-US" sz="2400" dirty="0">
                <a:solidFill>
                  <a:srgbClr val="272525"/>
                </a:solidFill>
                <a:latin typeface="Inter" pitchFamily="34" charset="0"/>
                <a:ea typeface="Inter" pitchFamily="34" charset="-122"/>
                <a:cs typeface="Inter" pitchFamily="34" charset="-120"/>
                <a:sym typeface="+mn-ea"/>
              </a:rPr>
              <a:t>         And it is a Simple, Addictive, Challenging, &amp; Endless game to attract the children.</a:t>
            </a:r>
          </a:p>
          <a:p>
            <a:pPr marL="0" indent="0">
              <a:lnSpc>
                <a:spcPts val="2860"/>
              </a:lnSpc>
              <a:buNone/>
            </a:pPr>
            <a:endParaRPr lang="en-US" sz="2400" dirty="0"/>
          </a:p>
          <a:p>
            <a:pPr marL="0" indent="0">
              <a:lnSpc>
                <a:spcPts val="2860"/>
              </a:lnSpc>
              <a:buNone/>
            </a:pP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6" name="Picture 5" descr="professional-thank-you-images1"/>
          <p:cNvPicPr>
            <a:picLocks noChangeAspect="1"/>
          </p:cNvPicPr>
          <p:nvPr/>
        </p:nvPicPr>
        <p:blipFill>
          <a:blip r:embed="rId4"/>
          <a:stretch>
            <a:fillRect/>
          </a:stretch>
        </p:blipFill>
        <p:spPr>
          <a:xfrm>
            <a:off x="1877695" y="1575435"/>
            <a:ext cx="11172825" cy="50793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1042</Words>
  <Application>WPS Presentation</Application>
  <PresentationFormat>Custom</PresentationFormat>
  <Paragraphs>150</Paragraphs>
  <Slides>15</Slides>
  <Notes>10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Windows User</cp:lastModifiedBy>
  <cp:revision>26</cp:revision>
  <dcterms:created xsi:type="dcterms:W3CDTF">2024-08-12T18:52:00Z</dcterms:created>
  <dcterms:modified xsi:type="dcterms:W3CDTF">2024-11-10T10:46:32Z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9C18AE0DE67E491CBB1A2BD6B15A88DB_13</vt:lpwstr>
  </property>
  <property fmtid="{D5CDD505-2E9C-101B-9397-08002B2CF9AE}" pid="3" name="KSOProductBuildVer">
    <vt:lpwstr>1033-12.2.0.13472</vt:lpwstr>
  </property>
</Properties>
</file>